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08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65" autoAdjust="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EF051-BA1E-6373-17D2-CB79A881C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807F45-13FC-337A-E842-808C58E11D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F0638F-5AE1-62B5-A47C-02A81D9A7932}"/>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950237AF-9C3A-652E-2409-67B9860F2B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DEA4A0-5E59-7D22-36A9-3F4B773DDE73}"/>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2401137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91B9-F050-95C7-A140-EB3F048DAA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9F2C78-046B-E79C-F131-5D722A5136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9F42E-2B53-C407-CFC4-99C9D4883952}"/>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CF8C14A5-D506-B3DE-62A4-66B43B266B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F9D1DF-96AA-882E-A4A2-963516036A5F}"/>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1681486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42933-EA7E-3F2F-30A0-F1966D1258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897070-50F8-BE45-C6CA-574D825179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2D87BF-C6A8-B0DC-B07B-26BAD0721B10}"/>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20834CC1-467D-BF5B-0AAB-83848F3AFB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0509E2-1376-736D-2A1D-9C2BF5ACBAFC}"/>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1001859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DA758-24B3-8664-F4C4-1B78F272C2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62896D-CFAF-A11F-21A0-556A77E5B6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422764-834D-62EF-7AD0-ABE512D4D3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2E6801-E1BB-BCDE-0494-7958BA364694}"/>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6" name="Footer Placeholder 5">
            <a:extLst>
              <a:ext uri="{FF2B5EF4-FFF2-40B4-BE49-F238E27FC236}">
                <a16:creationId xmlns:a16="http://schemas.microsoft.com/office/drawing/2014/main" id="{0CD1A5B4-21A6-31CD-9AAD-72BC346FD6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D3A606-F843-9152-738A-05BE4CD5448F}"/>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180964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E30D-2288-2C37-4721-DB7A861E63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A46456-8746-39EF-BEF2-E3B03CBEA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17B9B0-8044-7379-6040-F473BA3091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018EEE-56E0-D592-7B6A-948A9392AE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1E687B-7D6E-D234-6496-C594437048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2C182D-4A30-F746-80C8-8146EE801FB5}"/>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8" name="Footer Placeholder 7">
            <a:extLst>
              <a:ext uri="{FF2B5EF4-FFF2-40B4-BE49-F238E27FC236}">
                <a16:creationId xmlns:a16="http://schemas.microsoft.com/office/drawing/2014/main" id="{D50573C5-7B42-D2F7-69C4-AA1A308C5FA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5C11DB-2557-4D66-A119-8BA88B087780}"/>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2864629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8641-215F-F3A0-9B78-887DF608B8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D0176B-30F4-3DA4-6FB2-BA2C38E439A9}"/>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4" name="Footer Placeholder 3">
            <a:extLst>
              <a:ext uri="{FF2B5EF4-FFF2-40B4-BE49-F238E27FC236}">
                <a16:creationId xmlns:a16="http://schemas.microsoft.com/office/drawing/2014/main" id="{D8D47A92-A48B-EB31-A666-A6AC9EC73E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7AA3A6-DEDE-6D53-617C-07F87D6A8877}"/>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1470613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C118D9-4C9F-0034-A8DE-6DEE8BEEDF0B}"/>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3" name="Footer Placeholder 2">
            <a:extLst>
              <a:ext uri="{FF2B5EF4-FFF2-40B4-BE49-F238E27FC236}">
                <a16:creationId xmlns:a16="http://schemas.microsoft.com/office/drawing/2014/main" id="{505D4E79-E5BC-1D4C-AE18-AACDDCC9DF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C43539-A40C-68FF-3D47-AD9EF4FEB046}"/>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414233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81240-5FDB-4AE7-5DDF-3CED730B7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0F369B-67C7-2264-6F35-F5E5228E22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4E3513-7A24-66B5-7EDC-330676385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25A54D-0527-5E5F-4431-B165CE1ADF78}"/>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6" name="Footer Placeholder 5">
            <a:extLst>
              <a:ext uri="{FF2B5EF4-FFF2-40B4-BE49-F238E27FC236}">
                <a16:creationId xmlns:a16="http://schemas.microsoft.com/office/drawing/2014/main" id="{F07292C5-7DB9-8786-17C1-83C7965749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2EEA7F-0CDA-3AAB-22ED-F9E974701CC5}"/>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480083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8C947-8FE6-8BC7-F5CF-D7AF58D674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E86D06-5D1C-A84F-C029-E1D8FE2B21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9003A2-88B2-926D-79E0-35DB56A55D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79DED7-337E-1CA4-2579-60A044ECBDA0}"/>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6" name="Footer Placeholder 5">
            <a:extLst>
              <a:ext uri="{FF2B5EF4-FFF2-40B4-BE49-F238E27FC236}">
                <a16:creationId xmlns:a16="http://schemas.microsoft.com/office/drawing/2014/main" id="{E24576F9-1512-70A0-AF7D-935C971175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6392AE-38C5-24F2-562E-2518C73BA979}"/>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2634928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77C6E-471D-EB06-39F1-DC16B12AF5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6D8F3E-EDAF-6D7F-C1B9-D226788F2D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EFD65-C440-E918-B571-D183CB3EE50D}"/>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6A2DD0C8-9AA9-21CE-036B-DB6555F70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B700B6-8C74-B977-7EF1-7EEC77EEA158}"/>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30121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64E0E8-74F4-B50D-BF69-502233C1DD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1F8CDD-DF59-7201-D0C2-2A5EB05E69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CD89FA-ECA7-F1C0-3246-1703A101D986}"/>
              </a:ext>
            </a:extLst>
          </p:cNvPr>
          <p:cNvSpPr>
            <a:spLocks noGrp="1"/>
          </p:cNvSpPr>
          <p:nvPr>
            <p:ph type="dt" sz="half" idx="10"/>
          </p:nvPr>
        </p:nvSpPr>
        <p:spPr/>
        <p:txBody>
          <a:body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7CDF9CE0-388C-3A39-8972-5B4E5FEB1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BD0D19-A83B-FD3E-6544-16DD24623C09}"/>
              </a:ext>
            </a:extLst>
          </p:cNvPr>
          <p:cNvSpPr>
            <a:spLocks noGrp="1"/>
          </p:cNvSpPr>
          <p:nvPr>
            <p:ph type="sldNum" sz="quarter" idx="12"/>
          </p:nvPr>
        </p:nvSpPr>
        <p:spPr/>
        <p:txBody>
          <a:bodyPr/>
          <a:lstStyle/>
          <a:p>
            <a:fld id="{8E06F41B-1E42-44FA-810F-48C8BEC9BB82}" type="slidenum">
              <a:rPr lang="en-IN" smtClean="0"/>
              <a:t>‹#›</a:t>
            </a:fld>
            <a:endParaRPr lang="en-IN"/>
          </a:p>
        </p:txBody>
      </p:sp>
    </p:spTree>
    <p:extLst>
      <p:ext uri="{BB962C8B-B14F-4D97-AF65-F5344CB8AC3E}">
        <p14:creationId xmlns:p14="http://schemas.microsoft.com/office/powerpoint/2010/main" val="2576291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F9572A-CA9F-9206-B868-FBD81624D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8FECF0-DF5F-B1A4-CB94-DF0A2A19F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691A1-F513-A5A1-6A63-DED8143E1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8B80BF-2ECC-47C8-BC0E-4BD0FF8706E0}" type="datetimeFigureOut">
              <a:rPr lang="en-IN" smtClean="0"/>
              <a:t>07-08-2026</a:t>
            </a:fld>
            <a:endParaRPr lang="en-IN"/>
          </a:p>
        </p:txBody>
      </p:sp>
      <p:sp>
        <p:nvSpPr>
          <p:cNvPr id="5" name="Footer Placeholder 4">
            <a:extLst>
              <a:ext uri="{FF2B5EF4-FFF2-40B4-BE49-F238E27FC236}">
                <a16:creationId xmlns:a16="http://schemas.microsoft.com/office/drawing/2014/main" id="{C2CB28AB-5971-2978-EB95-CA4F3A3406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A5548CE-6361-8C05-7524-FDDAC6E45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06F41B-1E42-44FA-810F-48C8BEC9BB82}" type="slidenum">
              <a:rPr lang="en-IN" smtClean="0"/>
              <a:t>‹#›</a:t>
            </a:fld>
            <a:endParaRPr lang="en-IN"/>
          </a:p>
        </p:txBody>
      </p:sp>
    </p:spTree>
    <p:extLst>
      <p:ext uri="{BB962C8B-B14F-4D97-AF65-F5344CB8AC3E}">
        <p14:creationId xmlns:p14="http://schemas.microsoft.com/office/powerpoint/2010/main" val="155135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9D6864-59D4-6902-4519-0C4A37422061}"/>
              </a:ext>
            </a:extLst>
          </p:cNvPr>
          <p:cNvSpPr>
            <a:spLocks noGrp="1"/>
          </p:cNvSpPr>
          <p:nvPr>
            <p:ph type="subTitle" idx="1"/>
          </p:nvPr>
        </p:nvSpPr>
        <p:spPr>
          <a:xfrm>
            <a:off x="1257300" y="3963986"/>
            <a:ext cx="9410700" cy="1771649"/>
          </a:xfrm>
        </p:spPr>
        <p:txBody>
          <a:bodyPr>
            <a:normAutofit lnSpcReduction="10000"/>
          </a:bodyPr>
          <a:lstStyle/>
          <a:p>
            <a:r>
              <a:rPr lang="en-US" i="1" dirty="0">
                <a:solidFill>
                  <a:schemeClr val="bg2">
                    <a:lumMod val="25000"/>
                  </a:schemeClr>
                </a:solidFill>
              </a:rPr>
              <a:t>Tableau</a:t>
            </a:r>
            <a:r>
              <a:rPr lang="en-US" sz="2400" i="1" dirty="0">
                <a:solidFill>
                  <a:schemeClr val="bg2">
                    <a:lumMod val="25000"/>
                  </a:schemeClr>
                </a:solidFill>
              </a:rPr>
              <a:t> Dashboard Project</a:t>
            </a:r>
          </a:p>
          <a:p>
            <a:r>
              <a:rPr lang="en-US" sz="2400" dirty="0">
                <a:solidFill>
                  <a:schemeClr val="bg2">
                    <a:lumMod val="25000"/>
                  </a:schemeClr>
                </a:solidFill>
              </a:rPr>
              <a:t> </a:t>
            </a:r>
          </a:p>
          <a:p>
            <a:r>
              <a:rPr lang="en-US" sz="2400" dirty="0">
                <a:solidFill>
                  <a:schemeClr val="bg2">
                    <a:lumMod val="25000"/>
                  </a:schemeClr>
                </a:solidFill>
              </a:rPr>
              <a:t>Presented by</a:t>
            </a:r>
          </a:p>
          <a:p>
            <a:r>
              <a:rPr lang="en-US" sz="2400" b="1" dirty="0">
                <a:solidFill>
                  <a:schemeClr val="bg2">
                    <a:lumMod val="25000"/>
                  </a:schemeClr>
                </a:solidFill>
              </a:rPr>
              <a:t>Aiswarya OP</a:t>
            </a:r>
            <a:endParaRPr lang="en-IN" dirty="0"/>
          </a:p>
          <a:p>
            <a:endParaRPr lang="en-IN" dirty="0"/>
          </a:p>
        </p:txBody>
      </p:sp>
      <p:sp>
        <p:nvSpPr>
          <p:cNvPr id="4" name="Title 3">
            <a:extLst>
              <a:ext uri="{FF2B5EF4-FFF2-40B4-BE49-F238E27FC236}">
                <a16:creationId xmlns:a16="http://schemas.microsoft.com/office/drawing/2014/main" id="{B0C0865C-A4DB-3106-3B85-28BBB651FDF7}"/>
              </a:ext>
            </a:extLst>
          </p:cNvPr>
          <p:cNvSpPr>
            <a:spLocks noGrp="1"/>
          </p:cNvSpPr>
          <p:nvPr>
            <p:ph type="ctrTitle"/>
          </p:nvPr>
        </p:nvSpPr>
        <p:spPr>
          <a:xfrm>
            <a:off x="142875" y="1276349"/>
            <a:ext cx="11868150" cy="1771649"/>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2"/>
                </a:solidFill>
                <a:highlight>
                  <a:srgbClr val="000080"/>
                </a:highlight>
              </a:rPr>
              <a:t>AIRLINE FLIGHT PERFORMANE DASHBOARD</a:t>
            </a:r>
            <a:endParaRPr lang="en-IN" sz="3600" b="1" dirty="0">
              <a:solidFill>
                <a:schemeClr val="bg2"/>
              </a:solidFill>
              <a:highlight>
                <a:srgbClr val="000080"/>
              </a:highlight>
            </a:endParaRPr>
          </a:p>
        </p:txBody>
      </p:sp>
    </p:spTree>
    <p:extLst>
      <p:ext uri="{BB962C8B-B14F-4D97-AF65-F5344CB8AC3E}">
        <p14:creationId xmlns:p14="http://schemas.microsoft.com/office/powerpoint/2010/main" val="320334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C3530A-BBA6-7E24-76B1-5D223BBE0E1C}"/>
              </a:ext>
            </a:extLst>
          </p:cNvPr>
          <p:cNvSpPr/>
          <p:nvPr/>
        </p:nvSpPr>
        <p:spPr>
          <a:xfrm>
            <a:off x="95251" y="4762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PROBLEM STATEMENT / BUSINESS OBJECTIVES</a:t>
            </a:r>
            <a:endParaRPr lang="en-IN" sz="2800" dirty="0"/>
          </a:p>
        </p:txBody>
      </p:sp>
      <p:sp>
        <p:nvSpPr>
          <p:cNvPr id="4" name="TextBox 3">
            <a:extLst>
              <a:ext uri="{FF2B5EF4-FFF2-40B4-BE49-F238E27FC236}">
                <a16:creationId xmlns:a16="http://schemas.microsoft.com/office/drawing/2014/main" id="{BDB26A1D-1872-CCD3-420B-BF229B95175B}"/>
              </a:ext>
            </a:extLst>
          </p:cNvPr>
          <p:cNvSpPr txBox="1"/>
          <p:nvPr/>
        </p:nvSpPr>
        <p:spPr>
          <a:xfrm>
            <a:off x="495299" y="1133475"/>
            <a:ext cx="11563352" cy="5355312"/>
          </a:xfrm>
          <a:prstGeom prst="rect">
            <a:avLst/>
          </a:prstGeom>
          <a:noFill/>
        </p:spPr>
        <p:txBody>
          <a:bodyPr wrap="square">
            <a:spAutoFit/>
          </a:bodyPr>
          <a:lstStyle/>
          <a:p>
            <a:pPr algn="just"/>
            <a:r>
              <a:rPr lang="en-US" b="1" dirty="0"/>
              <a:t>Problem Statement</a:t>
            </a:r>
          </a:p>
          <a:p>
            <a:pPr algn="just"/>
            <a:endParaRPr lang="en-US" b="1" dirty="0"/>
          </a:p>
          <a:p>
            <a:pPr algn="just"/>
            <a:r>
              <a:rPr lang="en-US" dirty="0"/>
              <a:t>Airline operations generate large volumes of flight data, making it difficult to monitor delays, cancellations, and overall performance manually. An interactive Tableau dashboard helps visualize key metrics and supports operational decision-making.</a:t>
            </a:r>
          </a:p>
          <a:p>
            <a:pPr algn="just"/>
            <a:endParaRPr lang="en-US" dirty="0"/>
          </a:p>
          <a:p>
            <a:pPr algn="just"/>
            <a:r>
              <a:rPr lang="en-US" b="1" dirty="0"/>
              <a:t>Business Objectives</a:t>
            </a:r>
          </a:p>
          <a:p>
            <a:pPr algn="just"/>
            <a:endParaRPr lang="en-US" b="1" dirty="0"/>
          </a:p>
          <a:p>
            <a:pPr algn="just">
              <a:buFont typeface="Arial" panose="020B0604020202020204" pitchFamily="34" charset="0"/>
              <a:buChar char="•"/>
            </a:pPr>
            <a:r>
              <a:rPr lang="en-US" dirty="0"/>
              <a:t>     Analyze overall airline flight performance.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     Monitor arrival and departure delays.</a:t>
            </a:r>
          </a:p>
          <a:p>
            <a:pPr algn="just"/>
            <a:r>
              <a:rPr lang="en-US" dirty="0"/>
              <a:t> </a:t>
            </a:r>
          </a:p>
          <a:p>
            <a:pPr algn="just">
              <a:buFont typeface="Arial" panose="020B0604020202020204" pitchFamily="34" charset="0"/>
              <a:buChar char="•"/>
            </a:pPr>
            <a:r>
              <a:rPr lang="en-US" dirty="0"/>
              <a:t>     Identify top airlines by flight count.</a:t>
            </a:r>
          </a:p>
          <a:p>
            <a:pPr algn="just"/>
            <a:r>
              <a:rPr lang="en-US" dirty="0"/>
              <a:t> </a:t>
            </a:r>
          </a:p>
          <a:p>
            <a:pPr algn="just">
              <a:buFont typeface="Arial" panose="020B0604020202020204" pitchFamily="34" charset="0"/>
              <a:buChar char="•"/>
            </a:pPr>
            <a:r>
              <a:rPr lang="en-US" dirty="0"/>
              <a:t>     Analyze flight cancellation trends.</a:t>
            </a:r>
          </a:p>
          <a:p>
            <a:pPr algn="just"/>
            <a:r>
              <a:rPr lang="en-US" dirty="0"/>
              <a:t> </a:t>
            </a:r>
          </a:p>
          <a:p>
            <a:pPr algn="just">
              <a:buFont typeface="Arial" panose="020B0604020202020204" pitchFamily="34" charset="0"/>
              <a:buChar char="•"/>
            </a:pPr>
            <a:r>
              <a:rPr lang="en-US" dirty="0"/>
              <a:t>     Track monthly flight performance.</a:t>
            </a:r>
          </a:p>
          <a:p>
            <a:pPr algn="just"/>
            <a:r>
              <a:rPr lang="en-US" dirty="0"/>
              <a:t> </a:t>
            </a:r>
          </a:p>
          <a:p>
            <a:pPr algn="just">
              <a:buFont typeface="Arial" panose="020B0604020202020204" pitchFamily="34" charset="0"/>
              <a:buChar char="•"/>
            </a:pPr>
            <a:r>
              <a:rPr lang="en-US" dirty="0"/>
              <a:t>     Develop an interactive Tableau dashboard for performance analysis.</a:t>
            </a:r>
          </a:p>
        </p:txBody>
      </p:sp>
    </p:spTree>
    <p:extLst>
      <p:ext uri="{BB962C8B-B14F-4D97-AF65-F5344CB8AC3E}">
        <p14:creationId xmlns:p14="http://schemas.microsoft.com/office/powerpoint/2010/main" val="109223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DA5A9C-517C-3D77-F0A3-63AB8123CCC7}"/>
              </a:ext>
            </a:extLst>
          </p:cNvPr>
          <p:cNvSpPr/>
          <p:nvPr/>
        </p:nvSpPr>
        <p:spPr>
          <a:xfrm>
            <a:off x="95251" y="6667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DATASET  OVERVIEW</a:t>
            </a:r>
            <a:endParaRPr lang="en-IN" sz="2800" b="1" dirty="0"/>
          </a:p>
        </p:txBody>
      </p:sp>
      <p:sp>
        <p:nvSpPr>
          <p:cNvPr id="4" name="TextBox 3">
            <a:extLst>
              <a:ext uri="{FF2B5EF4-FFF2-40B4-BE49-F238E27FC236}">
                <a16:creationId xmlns:a16="http://schemas.microsoft.com/office/drawing/2014/main" id="{FA3C3B92-529E-6C3E-D64F-723191A364E7}"/>
              </a:ext>
            </a:extLst>
          </p:cNvPr>
          <p:cNvSpPr txBox="1"/>
          <p:nvPr/>
        </p:nvSpPr>
        <p:spPr>
          <a:xfrm>
            <a:off x="857250" y="1447800"/>
            <a:ext cx="10534650" cy="4514790"/>
          </a:xfrm>
          <a:prstGeom prst="rect">
            <a:avLst/>
          </a:prstGeom>
          <a:noFill/>
        </p:spPr>
        <p:txBody>
          <a:bodyPr wrap="square">
            <a:spAutoFit/>
          </a:bodyPr>
          <a:lstStyle/>
          <a:p>
            <a:pPr algn="just"/>
            <a:r>
              <a:rPr lang="en-IN" b="1" dirty="0"/>
              <a:t>Dataset Information</a:t>
            </a:r>
          </a:p>
          <a:p>
            <a:pPr algn="just"/>
            <a:endParaRPr lang="en-IN" b="1" dirty="0"/>
          </a:p>
          <a:p>
            <a:pPr algn="just">
              <a:buFont typeface="Arial" panose="020B0604020202020204" pitchFamily="34" charset="0"/>
              <a:buChar char="•"/>
            </a:pPr>
            <a:r>
              <a:rPr lang="en-IN" b="1" dirty="0"/>
              <a:t>     Industry:</a:t>
            </a:r>
            <a:r>
              <a:rPr lang="en-IN" dirty="0"/>
              <a:t> Aviation </a:t>
            </a:r>
          </a:p>
          <a:p>
            <a:pPr algn="just">
              <a:buFont typeface="Arial" panose="020B0604020202020204" pitchFamily="34" charset="0"/>
              <a:buChar char="•"/>
            </a:pPr>
            <a:endParaRPr lang="en-IN" dirty="0"/>
          </a:p>
          <a:p>
            <a:pPr algn="just">
              <a:buFont typeface="Arial" panose="020B0604020202020204" pitchFamily="34" charset="0"/>
              <a:buChar char="•"/>
            </a:pPr>
            <a:r>
              <a:rPr lang="en-IN" b="1" dirty="0"/>
              <a:t>     Data Source:</a:t>
            </a:r>
            <a:r>
              <a:rPr lang="en-IN" dirty="0"/>
              <a:t> Airline Flight Performance CSV Dataset</a:t>
            </a:r>
          </a:p>
          <a:p>
            <a:pPr algn="just"/>
            <a:r>
              <a:rPr lang="en-IN" dirty="0"/>
              <a:t> </a:t>
            </a:r>
          </a:p>
          <a:p>
            <a:pPr algn="just">
              <a:buFont typeface="Arial" panose="020B0604020202020204" pitchFamily="34" charset="0"/>
              <a:buChar char="•"/>
            </a:pPr>
            <a:r>
              <a:rPr lang="en-IN" b="1" dirty="0"/>
              <a:t>     Records:</a:t>
            </a:r>
            <a:r>
              <a:rPr lang="en-IN" dirty="0"/>
              <a:t> 50,000 Flights</a:t>
            </a:r>
          </a:p>
          <a:p>
            <a:pPr algn="just"/>
            <a:r>
              <a:rPr lang="en-IN" dirty="0"/>
              <a:t> </a:t>
            </a:r>
          </a:p>
          <a:p>
            <a:pPr algn="just">
              <a:buFont typeface="Arial" panose="020B0604020202020204" pitchFamily="34" charset="0"/>
              <a:buChar char="•"/>
            </a:pPr>
            <a:r>
              <a:rPr lang="en-IN" b="1" dirty="0"/>
              <a:t>     Columns:</a:t>
            </a:r>
            <a:r>
              <a:rPr lang="en-IN" dirty="0"/>
              <a:t> 20</a:t>
            </a:r>
          </a:p>
          <a:p>
            <a:pPr algn="just"/>
            <a:r>
              <a:rPr lang="en-IN" dirty="0"/>
              <a:t> </a:t>
            </a:r>
          </a:p>
          <a:p>
            <a:pPr algn="just">
              <a:buFont typeface="Arial" panose="020B0604020202020204" pitchFamily="34" charset="0"/>
              <a:buChar char="•"/>
            </a:pPr>
            <a:r>
              <a:rPr lang="en-IN" b="1" dirty="0"/>
              <a:t>     Tool Used:</a:t>
            </a:r>
            <a:r>
              <a:rPr lang="en-IN" dirty="0"/>
              <a:t> Tableau Public </a:t>
            </a:r>
          </a:p>
          <a:p>
            <a:pPr algn="just">
              <a:buFont typeface="Arial" panose="020B0604020202020204" pitchFamily="34" charset="0"/>
              <a:buChar char="•"/>
            </a:pPr>
            <a:endParaRPr lang="en-IN" dirty="0"/>
          </a:p>
          <a:p>
            <a:pPr algn="just"/>
            <a:r>
              <a:rPr lang="en-IN" b="1" dirty="0"/>
              <a:t>Main Columns</a:t>
            </a:r>
          </a:p>
          <a:p>
            <a:pPr algn="just"/>
            <a:endParaRPr lang="en-IN" b="1" dirty="0"/>
          </a:p>
          <a:p>
            <a:pPr algn="just"/>
            <a:r>
              <a:rPr lang="en-IN" dirty="0"/>
              <a:t>Flight Date, Airline Name, Origin City, Destination City, Arrival Delay Minutes, Departure Delay Minutes,    Cancelled Flag, Diverted Flag, Actual Elapsed Time, Scheduled Elapsed Time.</a:t>
            </a:r>
          </a:p>
        </p:txBody>
      </p:sp>
    </p:spTree>
    <p:extLst>
      <p:ext uri="{BB962C8B-B14F-4D97-AF65-F5344CB8AC3E}">
        <p14:creationId xmlns:p14="http://schemas.microsoft.com/office/powerpoint/2010/main" val="410162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BCC520-DFC8-2D50-FF0C-D706559697CC}"/>
              </a:ext>
            </a:extLst>
          </p:cNvPr>
          <p:cNvSpPr/>
          <p:nvPr/>
        </p:nvSpPr>
        <p:spPr>
          <a:xfrm>
            <a:off x="95251" y="6667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DATA  UNDERSTANDING</a:t>
            </a:r>
            <a:endParaRPr lang="en-IN" sz="2800" dirty="0"/>
          </a:p>
        </p:txBody>
      </p:sp>
      <p:sp>
        <p:nvSpPr>
          <p:cNvPr id="4" name="TextBox 3">
            <a:extLst>
              <a:ext uri="{FF2B5EF4-FFF2-40B4-BE49-F238E27FC236}">
                <a16:creationId xmlns:a16="http://schemas.microsoft.com/office/drawing/2014/main" id="{1FBF0D55-5627-D173-8643-2261BFADE783}"/>
              </a:ext>
            </a:extLst>
          </p:cNvPr>
          <p:cNvSpPr txBox="1"/>
          <p:nvPr/>
        </p:nvSpPr>
        <p:spPr>
          <a:xfrm>
            <a:off x="971550" y="1533525"/>
            <a:ext cx="10648950" cy="4247317"/>
          </a:xfrm>
          <a:prstGeom prst="rect">
            <a:avLst/>
          </a:prstGeom>
          <a:noFill/>
        </p:spPr>
        <p:txBody>
          <a:bodyPr wrap="square">
            <a:spAutoFit/>
          </a:bodyPr>
          <a:lstStyle/>
          <a:p>
            <a:pPr algn="just"/>
            <a:r>
              <a:rPr lang="en-US" dirty="0"/>
              <a:t>Before creating the dashboard, the dataset was analyzed to understand its structure.</a:t>
            </a:r>
          </a:p>
          <a:p>
            <a:pPr algn="just"/>
            <a:endParaRPr lang="en-US" dirty="0"/>
          </a:p>
          <a:p>
            <a:pPr algn="just"/>
            <a:r>
              <a:rPr lang="en-US" dirty="0"/>
              <a:t>The following were identified:</a:t>
            </a:r>
          </a:p>
          <a:p>
            <a:pPr algn="just"/>
            <a:endParaRPr lang="en-US" dirty="0"/>
          </a:p>
          <a:p>
            <a:pPr algn="just">
              <a:buFont typeface="Arial" panose="020B0604020202020204" pitchFamily="34" charset="0"/>
              <a:buChar char="•"/>
            </a:pPr>
            <a:r>
              <a:rPr lang="en-US" dirty="0"/>
              <a:t>     Numerical columns</a:t>
            </a:r>
          </a:p>
          <a:p>
            <a:pPr algn="just"/>
            <a:r>
              <a:rPr lang="en-US" dirty="0"/>
              <a:t> </a:t>
            </a:r>
          </a:p>
          <a:p>
            <a:pPr algn="just">
              <a:buFont typeface="Arial" panose="020B0604020202020204" pitchFamily="34" charset="0"/>
              <a:buChar char="•"/>
            </a:pPr>
            <a:r>
              <a:rPr lang="en-US" dirty="0"/>
              <a:t>     Categorical columns</a:t>
            </a:r>
          </a:p>
          <a:p>
            <a:pPr algn="just"/>
            <a:r>
              <a:rPr lang="en-US" dirty="0"/>
              <a:t> </a:t>
            </a:r>
          </a:p>
          <a:p>
            <a:pPr algn="just">
              <a:buFont typeface="Arial" panose="020B0604020202020204" pitchFamily="34" charset="0"/>
              <a:buChar char="•"/>
            </a:pPr>
            <a:r>
              <a:rPr lang="en-US" dirty="0"/>
              <a:t>     Date fields</a:t>
            </a:r>
          </a:p>
          <a:p>
            <a:pPr algn="just"/>
            <a:r>
              <a:rPr lang="en-US" dirty="0"/>
              <a:t> </a:t>
            </a:r>
          </a:p>
          <a:p>
            <a:pPr algn="just">
              <a:buFont typeface="Arial" panose="020B0604020202020204" pitchFamily="34" charset="0"/>
              <a:buChar char="•"/>
            </a:pPr>
            <a:r>
              <a:rPr lang="en-US" dirty="0"/>
              <a:t>     Flight performance attributes</a:t>
            </a:r>
          </a:p>
          <a:p>
            <a:pPr algn="just"/>
            <a:r>
              <a:rPr lang="en-US" dirty="0"/>
              <a:t> </a:t>
            </a:r>
          </a:p>
          <a:p>
            <a:pPr algn="just">
              <a:buFont typeface="Arial" panose="020B0604020202020204" pitchFamily="34" charset="0"/>
              <a:buChar char="•"/>
            </a:pPr>
            <a:r>
              <a:rPr lang="en-US" dirty="0"/>
              <a:t>     Delay and cancellation information</a:t>
            </a:r>
          </a:p>
          <a:p>
            <a:pPr algn="just"/>
            <a:r>
              <a:rPr lang="en-US" dirty="0"/>
              <a:t> </a:t>
            </a:r>
          </a:p>
          <a:p>
            <a:pPr algn="just"/>
            <a:r>
              <a:rPr lang="en-US" dirty="0"/>
              <a:t>This helped in selecting appropriate visualizations and KPIs for analysis.</a:t>
            </a:r>
          </a:p>
        </p:txBody>
      </p:sp>
    </p:spTree>
    <p:extLst>
      <p:ext uri="{BB962C8B-B14F-4D97-AF65-F5344CB8AC3E}">
        <p14:creationId xmlns:p14="http://schemas.microsoft.com/office/powerpoint/2010/main" val="936537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0B0760-D284-FEA0-D051-BD4453B5E206}"/>
              </a:ext>
            </a:extLst>
          </p:cNvPr>
          <p:cNvSpPr/>
          <p:nvPr/>
        </p:nvSpPr>
        <p:spPr>
          <a:xfrm>
            <a:off x="95251" y="47626"/>
            <a:ext cx="11887200" cy="742950"/>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DATA CLEANING AND PREPARATION</a:t>
            </a:r>
            <a:endParaRPr lang="en-IN" sz="2800" dirty="0"/>
          </a:p>
        </p:txBody>
      </p:sp>
      <p:sp>
        <p:nvSpPr>
          <p:cNvPr id="4" name="TextBox 3">
            <a:extLst>
              <a:ext uri="{FF2B5EF4-FFF2-40B4-BE49-F238E27FC236}">
                <a16:creationId xmlns:a16="http://schemas.microsoft.com/office/drawing/2014/main" id="{E0A1D0C8-6939-00D2-B96B-76731EE2090E}"/>
              </a:ext>
            </a:extLst>
          </p:cNvPr>
          <p:cNvSpPr txBox="1"/>
          <p:nvPr/>
        </p:nvSpPr>
        <p:spPr>
          <a:xfrm>
            <a:off x="990600" y="952500"/>
            <a:ext cx="9953625" cy="5632311"/>
          </a:xfrm>
          <a:prstGeom prst="rect">
            <a:avLst/>
          </a:prstGeom>
          <a:noFill/>
        </p:spPr>
        <p:txBody>
          <a:bodyPr wrap="square">
            <a:spAutoFit/>
          </a:bodyPr>
          <a:lstStyle/>
          <a:p>
            <a:r>
              <a:rPr lang="en-IN" b="1" dirty="0"/>
              <a:t>Data Cleaning Process</a:t>
            </a:r>
          </a:p>
          <a:p>
            <a:endParaRPr lang="en-IN" b="1" dirty="0"/>
          </a:p>
          <a:p>
            <a:pPr>
              <a:buFont typeface="Arial" panose="020B0604020202020204" pitchFamily="34" charset="0"/>
              <a:buChar char="•"/>
            </a:pPr>
            <a:r>
              <a:rPr lang="en-IN" dirty="0"/>
              <a:t>     Checked missing values. </a:t>
            </a:r>
          </a:p>
          <a:p>
            <a:pPr>
              <a:buFont typeface="Arial" panose="020B0604020202020204" pitchFamily="34" charset="0"/>
              <a:buChar char="•"/>
            </a:pPr>
            <a:endParaRPr lang="en-IN" dirty="0"/>
          </a:p>
          <a:p>
            <a:pPr>
              <a:buFont typeface="Arial" panose="020B0604020202020204" pitchFamily="34" charset="0"/>
              <a:buChar char="•"/>
            </a:pPr>
            <a:r>
              <a:rPr lang="en-IN" dirty="0"/>
              <a:t>     Removed duplicate records.</a:t>
            </a:r>
          </a:p>
          <a:p>
            <a:r>
              <a:rPr lang="en-IN" dirty="0"/>
              <a:t> </a:t>
            </a:r>
          </a:p>
          <a:p>
            <a:pPr>
              <a:buFont typeface="Arial" panose="020B0604020202020204" pitchFamily="34" charset="0"/>
              <a:buChar char="•"/>
            </a:pPr>
            <a:r>
              <a:rPr lang="en-IN" dirty="0"/>
              <a:t>     Verified data types.</a:t>
            </a:r>
          </a:p>
          <a:p>
            <a:r>
              <a:rPr lang="en-IN" dirty="0"/>
              <a:t> </a:t>
            </a:r>
          </a:p>
          <a:p>
            <a:pPr>
              <a:buFont typeface="Arial" panose="020B0604020202020204" pitchFamily="34" charset="0"/>
              <a:buChar char="•"/>
            </a:pPr>
            <a:r>
              <a:rPr lang="en-IN" dirty="0"/>
              <a:t>     Formatted date fields. </a:t>
            </a:r>
          </a:p>
          <a:p>
            <a:pPr>
              <a:buFont typeface="Arial" panose="020B0604020202020204" pitchFamily="34" charset="0"/>
              <a:buChar char="•"/>
            </a:pPr>
            <a:endParaRPr lang="en-IN" dirty="0"/>
          </a:p>
          <a:p>
            <a:pPr>
              <a:buFont typeface="Arial" panose="020B0604020202020204" pitchFamily="34" charset="0"/>
              <a:buChar char="•"/>
            </a:pPr>
            <a:r>
              <a:rPr lang="en-IN" dirty="0"/>
              <a:t>     Validated delay values.  </a:t>
            </a:r>
          </a:p>
          <a:p>
            <a:pPr>
              <a:buFont typeface="Arial" panose="020B0604020202020204" pitchFamily="34" charset="0"/>
              <a:buChar char="•"/>
            </a:pPr>
            <a:endParaRPr lang="en-IN" dirty="0"/>
          </a:p>
          <a:p>
            <a:pPr>
              <a:buFont typeface="Arial" panose="020B0604020202020204" pitchFamily="34" charset="0"/>
              <a:buChar char="•"/>
            </a:pPr>
            <a:r>
              <a:rPr lang="en-IN" dirty="0"/>
              <a:t>     Prepared data for dashboard creation.</a:t>
            </a:r>
          </a:p>
          <a:p>
            <a:r>
              <a:rPr lang="en-IN" dirty="0"/>
              <a:t> </a:t>
            </a:r>
          </a:p>
          <a:p>
            <a:r>
              <a:rPr lang="en-IN" b="1" dirty="0"/>
              <a:t>KPIs Created</a:t>
            </a:r>
          </a:p>
          <a:p>
            <a:pPr>
              <a:buFont typeface="Arial" panose="020B0604020202020204" pitchFamily="34" charset="0"/>
              <a:buChar char="•"/>
            </a:pPr>
            <a:r>
              <a:rPr lang="en-IN" dirty="0"/>
              <a:t>     Total Flights </a:t>
            </a:r>
          </a:p>
          <a:p>
            <a:pPr>
              <a:buFont typeface="Arial" panose="020B0604020202020204" pitchFamily="34" charset="0"/>
              <a:buChar char="•"/>
            </a:pPr>
            <a:r>
              <a:rPr lang="en-IN" dirty="0"/>
              <a:t>     Average Arrival Delay </a:t>
            </a:r>
          </a:p>
          <a:p>
            <a:pPr>
              <a:buFont typeface="Arial" panose="020B0604020202020204" pitchFamily="34" charset="0"/>
              <a:buChar char="•"/>
            </a:pPr>
            <a:r>
              <a:rPr lang="en-IN" dirty="0"/>
              <a:t>     Average Departure Delay </a:t>
            </a:r>
          </a:p>
          <a:p>
            <a:pPr>
              <a:buFont typeface="Arial" panose="020B0604020202020204" pitchFamily="34" charset="0"/>
              <a:buChar char="•"/>
            </a:pPr>
            <a:r>
              <a:rPr lang="en-IN" dirty="0"/>
              <a:t>     Cancelled Flights </a:t>
            </a:r>
          </a:p>
          <a:p>
            <a:pPr>
              <a:buFont typeface="Arial" panose="020B0604020202020204" pitchFamily="34" charset="0"/>
              <a:buChar char="•"/>
            </a:pPr>
            <a:r>
              <a:rPr lang="en-IN" dirty="0"/>
              <a:t>     Total Airlines</a:t>
            </a:r>
          </a:p>
        </p:txBody>
      </p:sp>
    </p:spTree>
    <p:extLst>
      <p:ext uri="{BB962C8B-B14F-4D97-AF65-F5344CB8AC3E}">
        <p14:creationId xmlns:p14="http://schemas.microsoft.com/office/powerpoint/2010/main" val="423162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47CE69-BAFF-387B-D560-662A42394E28}"/>
              </a:ext>
            </a:extLst>
          </p:cNvPr>
          <p:cNvSpPr/>
          <p:nvPr/>
        </p:nvSpPr>
        <p:spPr>
          <a:xfrm>
            <a:off x="95250" y="38100"/>
            <a:ext cx="11963399" cy="7715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DASHBOARD  SCREENSHORT</a:t>
            </a:r>
            <a:endParaRPr lang="en-IN" sz="2800" dirty="0"/>
          </a:p>
        </p:txBody>
      </p:sp>
      <p:pic>
        <p:nvPicPr>
          <p:cNvPr id="5" name="Picture 4">
            <a:extLst>
              <a:ext uri="{FF2B5EF4-FFF2-40B4-BE49-F238E27FC236}">
                <a16:creationId xmlns:a16="http://schemas.microsoft.com/office/drawing/2014/main" id="{F821D7EC-4D48-519F-62EF-209155568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4" y="857251"/>
            <a:ext cx="12077701" cy="5924550"/>
          </a:xfrm>
          <a:prstGeom prst="rect">
            <a:avLst/>
          </a:prstGeom>
        </p:spPr>
      </p:pic>
      <p:sp>
        <p:nvSpPr>
          <p:cNvPr id="3" name="Arrow: Right 2">
            <a:hlinkClick r:id="rId3" action="ppaction://hlinksldjump"/>
            <a:extLst>
              <a:ext uri="{FF2B5EF4-FFF2-40B4-BE49-F238E27FC236}">
                <a16:creationId xmlns:a16="http://schemas.microsoft.com/office/drawing/2014/main" id="{F3929074-9C1C-68FF-AE35-2F4A0B930C3C}"/>
              </a:ext>
            </a:extLst>
          </p:cNvPr>
          <p:cNvSpPr/>
          <p:nvPr/>
        </p:nvSpPr>
        <p:spPr>
          <a:xfrm>
            <a:off x="11654118" y="277906"/>
            <a:ext cx="537882" cy="439270"/>
          </a:xfrm>
          <a:prstGeom prst="rightArrow">
            <a:avLst/>
          </a:prstGeom>
          <a:solidFill>
            <a:schemeClr val="accent1">
              <a:lumMod val="75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9587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80215-9F78-9ABE-6E22-9D7D40651A60}"/>
              </a:ext>
            </a:extLst>
          </p:cNvPr>
          <p:cNvSpPr/>
          <p:nvPr/>
        </p:nvSpPr>
        <p:spPr>
          <a:xfrm>
            <a:off x="95251" y="47626"/>
            <a:ext cx="11887200" cy="570940"/>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065EB9B7-9A7E-33C1-6256-A571E63D15F2}"/>
              </a:ext>
            </a:extLst>
          </p:cNvPr>
          <p:cNvSpPr txBox="1"/>
          <p:nvPr/>
        </p:nvSpPr>
        <p:spPr>
          <a:xfrm>
            <a:off x="977152" y="699247"/>
            <a:ext cx="10414747" cy="6186309"/>
          </a:xfrm>
          <a:prstGeom prst="rect">
            <a:avLst/>
          </a:prstGeom>
          <a:noFill/>
        </p:spPr>
        <p:txBody>
          <a:bodyPr wrap="square">
            <a:spAutoFit/>
          </a:bodyPr>
          <a:lstStyle/>
          <a:p>
            <a:pPr algn="just"/>
            <a:r>
              <a:rPr lang="en-IN" b="1" dirty="0"/>
              <a:t>DASHBOARD COMPONENTS</a:t>
            </a:r>
          </a:p>
          <a:p>
            <a:pPr algn="just"/>
            <a:endParaRPr lang="en-IN" dirty="0"/>
          </a:p>
          <a:p>
            <a:pPr algn="just"/>
            <a:r>
              <a:rPr lang="en-IN" b="1" dirty="0"/>
              <a:t>KPI Cards</a:t>
            </a:r>
          </a:p>
          <a:p>
            <a:pPr algn="just">
              <a:buFont typeface="Arial" panose="020B0604020202020204" pitchFamily="34" charset="0"/>
              <a:buChar char="•"/>
            </a:pPr>
            <a:r>
              <a:rPr lang="en-IN" dirty="0"/>
              <a:t>     Total Flights </a:t>
            </a:r>
          </a:p>
          <a:p>
            <a:pPr algn="just">
              <a:buFont typeface="Arial" panose="020B0604020202020204" pitchFamily="34" charset="0"/>
              <a:buChar char="•"/>
            </a:pPr>
            <a:r>
              <a:rPr lang="en-IN" dirty="0"/>
              <a:t>     Average Arrival Delay </a:t>
            </a:r>
          </a:p>
          <a:p>
            <a:pPr algn="just">
              <a:buFont typeface="Arial" panose="020B0604020202020204" pitchFamily="34" charset="0"/>
              <a:buChar char="•"/>
            </a:pPr>
            <a:r>
              <a:rPr lang="en-IN" dirty="0"/>
              <a:t>     Average Departure Delay </a:t>
            </a:r>
          </a:p>
          <a:p>
            <a:pPr algn="just">
              <a:buFont typeface="Arial" panose="020B0604020202020204" pitchFamily="34" charset="0"/>
              <a:buChar char="•"/>
            </a:pPr>
            <a:r>
              <a:rPr lang="en-IN" dirty="0"/>
              <a:t>     Cancelled Flights </a:t>
            </a:r>
          </a:p>
          <a:p>
            <a:pPr algn="just">
              <a:buFont typeface="Arial" panose="020B0604020202020204" pitchFamily="34" charset="0"/>
              <a:buChar char="•"/>
            </a:pPr>
            <a:r>
              <a:rPr lang="en-IN" dirty="0"/>
              <a:t>     Total Airlines </a:t>
            </a:r>
          </a:p>
          <a:p>
            <a:pPr algn="just">
              <a:buFont typeface="Arial" panose="020B0604020202020204" pitchFamily="34" charset="0"/>
              <a:buChar char="•"/>
            </a:pPr>
            <a:endParaRPr lang="en-IN" dirty="0"/>
          </a:p>
          <a:p>
            <a:pPr algn="just"/>
            <a:r>
              <a:rPr lang="en-IN" b="1" dirty="0"/>
              <a:t>Visualizations</a:t>
            </a:r>
          </a:p>
          <a:p>
            <a:pPr algn="just"/>
            <a:endParaRPr lang="en-IN" b="1" dirty="0"/>
          </a:p>
          <a:p>
            <a:pPr algn="just">
              <a:buFont typeface="Arial" panose="020B0604020202020204" pitchFamily="34" charset="0"/>
              <a:buChar char="•"/>
            </a:pPr>
            <a:r>
              <a:rPr lang="en-IN" dirty="0"/>
              <a:t>     Monthly Flight Trend – Line Chart </a:t>
            </a:r>
          </a:p>
          <a:p>
            <a:pPr algn="just">
              <a:buFont typeface="Arial" panose="020B0604020202020204" pitchFamily="34" charset="0"/>
              <a:buChar char="•"/>
            </a:pPr>
            <a:r>
              <a:rPr lang="en-IN" dirty="0"/>
              <a:t>     Flight Cancellation Status – Pie Chart </a:t>
            </a:r>
          </a:p>
          <a:p>
            <a:pPr algn="just">
              <a:buFont typeface="Arial" panose="020B0604020202020204" pitchFamily="34" charset="0"/>
              <a:buChar char="•"/>
            </a:pPr>
            <a:r>
              <a:rPr lang="en-IN" dirty="0"/>
              <a:t>     Top 10 Airlines by Flight Count – Horizontal Bar Chart </a:t>
            </a:r>
          </a:p>
          <a:p>
            <a:pPr algn="just">
              <a:buFont typeface="Arial" panose="020B0604020202020204" pitchFamily="34" charset="0"/>
              <a:buChar char="•"/>
            </a:pPr>
            <a:r>
              <a:rPr lang="en-IN" dirty="0"/>
              <a:t>     Delay Trend Over Time – Area Chart </a:t>
            </a:r>
          </a:p>
          <a:p>
            <a:pPr algn="just">
              <a:buFont typeface="Arial" panose="020B0604020202020204" pitchFamily="34" charset="0"/>
              <a:buChar char="•"/>
            </a:pPr>
            <a:r>
              <a:rPr lang="en-IN" dirty="0"/>
              <a:t>     Average Departure Delay by Airline – Horizontal Bar Chart </a:t>
            </a:r>
          </a:p>
          <a:p>
            <a:pPr algn="just">
              <a:buFont typeface="Arial" panose="020B0604020202020204" pitchFamily="34" charset="0"/>
              <a:buChar char="•"/>
            </a:pPr>
            <a:r>
              <a:rPr lang="en-IN" dirty="0"/>
              <a:t>     Average Arrival Delay by Airline – </a:t>
            </a:r>
            <a:r>
              <a:rPr lang="en-IN" dirty="0" err="1"/>
              <a:t>Treemap</a:t>
            </a:r>
            <a:r>
              <a:rPr lang="en-IN" dirty="0"/>
              <a:t> </a:t>
            </a:r>
          </a:p>
          <a:p>
            <a:pPr algn="just">
              <a:buFont typeface="Arial" panose="020B0604020202020204" pitchFamily="34" charset="0"/>
              <a:buChar char="•"/>
            </a:pPr>
            <a:r>
              <a:rPr lang="en-IN" dirty="0"/>
              <a:t>     Flight Volume vs Delay Trend – Dual Axis Chart </a:t>
            </a:r>
          </a:p>
          <a:p>
            <a:pPr algn="just">
              <a:buFont typeface="Arial" panose="020B0604020202020204" pitchFamily="34" charset="0"/>
              <a:buChar char="•"/>
            </a:pPr>
            <a:endParaRPr lang="en-IN" dirty="0"/>
          </a:p>
          <a:p>
            <a:pPr algn="just"/>
            <a:r>
              <a:rPr lang="en-IN" b="1" dirty="0"/>
              <a:t>Filters</a:t>
            </a:r>
          </a:p>
          <a:p>
            <a:pPr algn="just">
              <a:buFont typeface="Arial" panose="020B0604020202020204" pitchFamily="34" charset="0"/>
              <a:buChar char="•"/>
            </a:pPr>
            <a:r>
              <a:rPr lang="en-IN" dirty="0"/>
              <a:t>     Airline Name </a:t>
            </a:r>
          </a:p>
          <a:p>
            <a:pPr algn="just">
              <a:buFont typeface="Arial" panose="020B0604020202020204" pitchFamily="34" charset="0"/>
              <a:buChar char="•"/>
            </a:pPr>
            <a:r>
              <a:rPr lang="en-IN" dirty="0"/>
              <a:t>     Month </a:t>
            </a:r>
          </a:p>
        </p:txBody>
      </p:sp>
      <p:sp>
        <p:nvSpPr>
          <p:cNvPr id="3" name="Arrow: Left 2">
            <a:hlinkClick r:id="rId2" action="ppaction://hlinksldjump"/>
            <a:extLst>
              <a:ext uri="{FF2B5EF4-FFF2-40B4-BE49-F238E27FC236}">
                <a16:creationId xmlns:a16="http://schemas.microsoft.com/office/drawing/2014/main" id="{C3C0B686-196B-005C-6D98-485C32667D05}"/>
              </a:ext>
            </a:extLst>
          </p:cNvPr>
          <p:cNvSpPr/>
          <p:nvPr/>
        </p:nvSpPr>
        <p:spPr>
          <a:xfrm>
            <a:off x="0" y="108978"/>
            <a:ext cx="555812" cy="448235"/>
          </a:xfrm>
          <a:prstGeom prst="leftArrow">
            <a:avLst/>
          </a:prstGeom>
          <a:solidFill>
            <a:schemeClr val="accent1">
              <a:lumMod val="75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9331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239484-2AAE-6044-FE4C-0BFA027CC98B}"/>
              </a:ext>
            </a:extLst>
          </p:cNvPr>
          <p:cNvSpPr/>
          <p:nvPr/>
        </p:nvSpPr>
        <p:spPr>
          <a:xfrm>
            <a:off x="95251" y="47626"/>
            <a:ext cx="11887200" cy="763080"/>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INSIGHTS  AND  FINDINGS</a:t>
            </a:r>
            <a:endParaRPr lang="en-IN" sz="2800" dirty="0"/>
          </a:p>
        </p:txBody>
      </p:sp>
      <p:sp>
        <p:nvSpPr>
          <p:cNvPr id="9" name="TextBox 8">
            <a:extLst>
              <a:ext uri="{FF2B5EF4-FFF2-40B4-BE49-F238E27FC236}">
                <a16:creationId xmlns:a16="http://schemas.microsoft.com/office/drawing/2014/main" id="{7E41EB4D-37CA-0584-9477-B47E5AA7BC0F}"/>
              </a:ext>
            </a:extLst>
          </p:cNvPr>
          <p:cNvSpPr txBox="1"/>
          <p:nvPr/>
        </p:nvSpPr>
        <p:spPr>
          <a:xfrm>
            <a:off x="923827" y="1074656"/>
            <a:ext cx="10096106" cy="535531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Total Flights: </a:t>
            </a:r>
            <a:r>
              <a:rPr kumimoji="0" lang="en-US" altLang="en-US" sz="1800" b="1" i="0" u="none" strike="noStrike" cap="none" normalizeH="0" baseline="0" dirty="0">
                <a:ln>
                  <a:noFill/>
                </a:ln>
                <a:solidFill>
                  <a:schemeClr val="tx1"/>
                </a:solidFill>
                <a:effectLst/>
                <a:latin typeface="Arial" panose="020B0604020202020204" pitchFamily="34" charset="0"/>
              </a:rPr>
              <a:t>50,000</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Total Airlines: </a:t>
            </a:r>
            <a:r>
              <a:rPr kumimoji="0" lang="en-US" altLang="en-US" sz="1800" b="1" i="0" u="none" strike="noStrike" cap="none" normalizeH="0" baseline="0" dirty="0">
                <a:ln>
                  <a:noFill/>
                </a:ln>
                <a:solidFill>
                  <a:schemeClr val="tx1"/>
                </a:solidFill>
                <a:effectLst/>
                <a:latin typeface="Arial" panose="020B0604020202020204" pitchFamily="34" charset="0"/>
              </a:rPr>
              <a:t>18</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Average Departure Delay: </a:t>
            </a:r>
            <a:r>
              <a:rPr kumimoji="0" lang="en-US" altLang="en-US" sz="1800" b="1" i="0" u="none" strike="noStrike" cap="none" normalizeH="0" baseline="0" dirty="0">
                <a:ln>
                  <a:noFill/>
                </a:ln>
                <a:solidFill>
                  <a:schemeClr val="tx1"/>
                </a:solidFill>
                <a:effectLst/>
                <a:latin typeface="Arial" panose="020B0604020202020204" pitchFamily="34" charset="0"/>
              </a:rPr>
              <a:t>9.987 min</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Average Arrival Delay: </a:t>
            </a:r>
            <a:r>
              <a:rPr kumimoji="0" lang="en-US" altLang="en-US" sz="1800" b="1" i="0" u="none" strike="noStrike" cap="none" normalizeH="0" baseline="0" dirty="0">
                <a:ln>
                  <a:noFill/>
                </a:ln>
                <a:solidFill>
                  <a:schemeClr val="tx1"/>
                </a:solidFill>
                <a:effectLst/>
                <a:latin typeface="Arial" panose="020B0604020202020204" pitchFamily="34" charset="0"/>
              </a:rPr>
              <a:t>4.089 min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Cancelled Flights: </a:t>
            </a:r>
            <a:r>
              <a:rPr kumimoji="0" lang="en-US" altLang="en-US" sz="1800" b="1" i="0" u="none" strike="noStrike" cap="none" normalizeH="0" baseline="0" dirty="0">
                <a:ln>
                  <a:noFill/>
                </a:ln>
                <a:solidFill>
                  <a:schemeClr val="tx1"/>
                </a:solidFill>
                <a:effectLst/>
                <a:latin typeface="Arial" panose="020B0604020202020204" pitchFamily="34" charset="0"/>
              </a:rPr>
              <a:t>1,330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       Flight performance varied throughout 2025, indicating changes in airline operations.</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Departure delays were higher than arrival delays.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Flight volume varied across different months.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Some airlines recorded significantly higher average delays than others.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3" name="Arrow: Left 2">
            <a:hlinkClick r:id="rId2" action="ppaction://hlinksldjump"/>
            <a:extLst>
              <a:ext uri="{FF2B5EF4-FFF2-40B4-BE49-F238E27FC236}">
                <a16:creationId xmlns:a16="http://schemas.microsoft.com/office/drawing/2014/main" id="{722836E6-491A-3C22-ABB2-E10140BE8A9C}"/>
              </a:ext>
            </a:extLst>
          </p:cNvPr>
          <p:cNvSpPr/>
          <p:nvPr/>
        </p:nvSpPr>
        <p:spPr>
          <a:xfrm>
            <a:off x="0" y="205048"/>
            <a:ext cx="555812" cy="448235"/>
          </a:xfrm>
          <a:prstGeom prst="leftArrow">
            <a:avLst/>
          </a:prstGeom>
          <a:solidFill>
            <a:schemeClr val="accent1">
              <a:lumMod val="75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3668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32FB66-5764-D102-99F0-6EEBDF1BCA13}"/>
              </a:ext>
            </a:extLst>
          </p:cNvPr>
          <p:cNvSpPr/>
          <p:nvPr/>
        </p:nvSpPr>
        <p:spPr>
          <a:xfrm>
            <a:off x="95251" y="4762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CHALLENGES  FACED</a:t>
            </a:r>
            <a:endParaRPr lang="en-IN" sz="2800" dirty="0"/>
          </a:p>
        </p:txBody>
      </p:sp>
      <p:sp>
        <p:nvSpPr>
          <p:cNvPr id="5" name="TextBox 4">
            <a:extLst>
              <a:ext uri="{FF2B5EF4-FFF2-40B4-BE49-F238E27FC236}">
                <a16:creationId xmlns:a16="http://schemas.microsoft.com/office/drawing/2014/main" id="{CD95EB3A-C4BA-9661-0344-197F2B697FFD}"/>
              </a:ext>
            </a:extLst>
          </p:cNvPr>
          <p:cNvSpPr txBox="1"/>
          <p:nvPr/>
        </p:nvSpPr>
        <p:spPr>
          <a:xfrm>
            <a:off x="1178351" y="1677972"/>
            <a:ext cx="10463752" cy="3693319"/>
          </a:xfrm>
          <a:prstGeom prst="rect">
            <a:avLst/>
          </a:prstGeom>
          <a:noFill/>
        </p:spPr>
        <p:txBody>
          <a:bodyPr wrap="square">
            <a:spAutoFit/>
          </a:bodyPr>
          <a:lstStyle/>
          <a:p>
            <a:pPr algn="just"/>
            <a:r>
              <a:rPr lang="en-IN" b="1" dirty="0"/>
              <a:t>Challenges</a:t>
            </a:r>
          </a:p>
          <a:p>
            <a:pPr algn="just"/>
            <a:endParaRPr lang="en-IN" b="1" dirty="0"/>
          </a:p>
          <a:p>
            <a:pPr algn="just">
              <a:buFont typeface="Arial" panose="020B0604020202020204" pitchFamily="34" charset="0"/>
              <a:buChar char="•"/>
            </a:pPr>
            <a:r>
              <a:rPr lang="en-IN" dirty="0"/>
              <a:t>     Cleaning and validating the dataset. </a:t>
            </a:r>
          </a:p>
          <a:p>
            <a:pPr algn="just">
              <a:buFont typeface="Arial" panose="020B0604020202020204" pitchFamily="34" charset="0"/>
              <a:buChar char="•"/>
            </a:pPr>
            <a:endParaRPr lang="en-IN" dirty="0"/>
          </a:p>
          <a:p>
            <a:pPr algn="just">
              <a:buFont typeface="Arial" panose="020B0604020202020204" pitchFamily="34" charset="0"/>
              <a:buChar char="•"/>
            </a:pPr>
            <a:r>
              <a:rPr lang="en-IN" dirty="0"/>
              <a:t>     Selecting suitable chart types.</a:t>
            </a:r>
          </a:p>
          <a:p>
            <a:pPr algn="just"/>
            <a:r>
              <a:rPr lang="en-IN" dirty="0"/>
              <a:t> </a:t>
            </a:r>
          </a:p>
          <a:p>
            <a:pPr algn="just">
              <a:buFont typeface="Arial" panose="020B0604020202020204" pitchFamily="34" charset="0"/>
              <a:buChar char="•"/>
            </a:pPr>
            <a:r>
              <a:rPr lang="en-IN" dirty="0"/>
              <a:t>     KPI formatting.</a:t>
            </a:r>
          </a:p>
          <a:p>
            <a:pPr algn="just"/>
            <a:r>
              <a:rPr lang="en-IN" dirty="0"/>
              <a:t> </a:t>
            </a:r>
          </a:p>
          <a:p>
            <a:pPr algn="just">
              <a:buFont typeface="Arial" panose="020B0604020202020204" pitchFamily="34" charset="0"/>
              <a:buChar char="•"/>
            </a:pPr>
            <a:r>
              <a:rPr lang="en-IN" dirty="0"/>
              <a:t>     Dashboard layout design.</a:t>
            </a:r>
          </a:p>
          <a:p>
            <a:pPr algn="just"/>
            <a:r>
              <a:rPr lang="en-IN" dirty="0"/>
              <a:t> </a:t>
            </a:r>
          </a:p>
          <a:p>
            <a:pPr algn="just">
              <a:buFont typeface="Arial" panose="020B0604020202020204" pitchFamily="34" charset="0"/>
              <a:buChar char="•"/>
            </a:pPr>
            <a:r>
              <a:rPr lang="en-IN" dirty="0"/>
              <a:t>     Configuring interactive filters.</a:t>
            </a:r>
          </a:p>
          <a:p>
            <a:pPr algn="just"/>
            <a:r>
              <a:rPr lang="en-IN" dirty="0"/>
              <a:t> </a:t>
            </a:r>
          </a:p>
          <a:p>
            <a:pPr algn="just">
              <a:buFont typeface="Arial" panose="020B0604020202020204" pitchFamily="34" charset="0"/>
              <a:buChar char="•"/>
            </a:pPr>
            <a:r>
              <a:rPr lang="en-IN" dirty="0"/>
              <a:t>     Maintaining a consistent dashboard design.</a:t>
            </a:r>
          </a:p>
        </p:txBody>
      </p:sp>
    </p:spTree>
    <p:extLst>
      <p:ext uri="{BB962C8B-B14F-4D97-AF65-F5344CB8AC3E}">
        <p14:creationId xmlns:p14="http://schemas.microsoft.com/office/powerpoint/2010/main" val="3815464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65E402-67D9-26F1-D03E-73B47BE9937B}"/>
              </a:ext>
            </a:extLst>
          </p:cNvPr>
          <p:cNvSpPr/>
          <p:nvPr/>
        </p:nvSpPr>
        <p:spPr>
          <a:xfrm>
            <a:off x="95251" y="4762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LIMITATIONS  &amp;  FUTURE  ENHANCEMENTS </a:t>
            </a:r>
            <a:endParaRPr lang="en-IN" sz="2800" dirty="0"/>
          </a:p>
        </p:txBody>
      </p:sp>
      <p:sp>
        <p:nvSpPr>
          <p:cNvPr id="4" name="TextBox 3">
            <a:extLst>
              <a:ext uri="{FF2B5EF4-FFF2-40B4-BE49-F238E27FC236}">
                <a16:creationId xmlns:a16="http://schemas.microsoft.com/office/drawing/2014/main" id="{8E57E9AB-D984-8CE5-1199-8C6F38B2E55F}"/>
              </a:ext>
            </a:extLst>
          </p:cNvPr>
          <p:cNvSpPr txBox="1"/>
          <p:nvPr/>
        </p:nvSpPr>
        <p:spPr>
          <a:xfrm>
            <a:off x="1225485" y="1395167"/>
            <a:ext cx="9954704" cy="4801314"/>
          </a:xfrm>
          <a:prstGeom prst="rect">
            <a:avLst/>
          </a:prstGeom>
          <a:noFill/>
        </p:spPr>
        <p:txBody>
          <a:bodyPr wrap="square">
            <a:spAutoFit/>
          </a:bodyPr>
          <a:lstStyle/>
          <a:p>
            <a:pPr algn="just"/>
            <a:r>
              <a:rPr lang="en-IN" b="1" dirty="0"/>
              <a:t>Limitations</a:t>
            </a:r>
          </a:p>
          <a:p>
            <a:pPr algn="just"/>
            <a:endParaRPr lang="en-IN" b="1" dirty="0"/>
          </a:p>
          <a:p>
            <a:pPr algn="just">
              <a:buFont typeface="Arial" panose="020B0604020202020204" pitchFamily="34" charset="0"/>
              <a:buChar char="•"/>
            </a:pPr>
            <a:r>
              <a:rPr lang="en-IN" dirty="0"/>
              <a:t>     Static dataset.</a:t>
            </a:r>
          </a:p>
          <a:p>
            <a:pPr algn="just"/>
            <a:r>
              <a:rPr lang="en-IN" dirty="0"/>
              <a:t> </a:t>
            </a:r>
          </a:p>
          <a:p>
            <a:pPr algn="just">
              <a:buFont typeface="Arial" panose="020B0604020202020204" pitchFamily="34" charset="0"/>
              <a:buChar char="•"/>
            </a:pPr>
            <a:r>
              <a:rPr lang="en-IN" dirty="0"/>
              <a:t>     No real-time flight updates.</a:t>
            </a:r>
          </a:p>
          <a:p>
            <a:pPr algn="just"/>
            <a:r>
              <a:rPr lang="en-IN" dirty="0"/>
              <a:t> </a:t>
            </a:r>
          </a:p>
          <a:p>
            <a:pPr algn="just">
              <a:buFont typeface="Arial" panose="020B0604020202020204" pitchFamily="34" charset="0"/>
              <a:buChar char="•"/>
            </a:pPr>
            <a:r>
              <a:rPr lang="en-IN" dirty="0"/>
              <a:t>     Limited operational details.</a:t>
            </a:r>
          </a:p>
          <a:p>
            <a:pPr algn="just"/>
            <a:r>
              <a:rPr lang="en-IN" dirty="0"/>
              <a:t> </a:t>
            </a:r>
          </a:p>
          <a:p>
            <a:pPr algn="just"/>
            <a:r>
              <a:rPr lang="en-IN" b="1" dirty="0"/>
              <a:t>Future Enhancements </a:t>
            </a:r>
          </a:p>
          <a:p>
            <a:pPr algn="just"/>
            <a:endParaRPr lang="en-IN" b="1" dirty="0"/>
          </a:p>
          <a:p>
            <a:pPr algn="just">
              <a:buFont typeface="Arial" panose="020B0604020202020204" pitchFamily="34" charset="0"/>
              <a:buChar char="•"/>
            </a:pPr>
            <a:r>
              <a:rPr lang="en-IN" dirty="0"/>
              <a:t>     Connect live airline databases. </a:t>
            </a:r>
          </a:p>
          <a:p>
            <a:pPr algn="just"/>
            <a:r>
              <a:rPr lang="en-IN" dirty="0"/>
              <a:t> </a:t>
            </a:r>
          </a:p>
          <a:p>
            <a:pPr algn="just">
              <a:buFont typeface="Arial" panose="020B0604020202020204" pitchFamily="34" charset="0"/>
              <a:buChar char="•"/>
            </a:pPr>
            <a:r>
              <a:rPr lang="en-IN" dirty="0"/>
              <a:t>     Add airport-wise performance analysis.</a:t>
            </a:r>
          </a:p>
          <a:p>
            <a:pPr algn="just"/>
            <a:r>
              <a:rPr lang="en-IN" dirty="0"/>
              <a:t> </a:t>
            </a:r>
          </a:p>
          <a:p>
            <a:pPr algn="just">
              <a:buFont typeface="Arial" panose="020B0604020202020204" pitchFamily="34" charset="0"/>
              <a:buChar char="•"/>
            </a:pPr>
            <a:r>
              <a:rPr lang="en-IN" dirty="0"/>
              <a:t>     Include weather impact analysis.</a:t>
            </a:r>
          </a:p>
          <a:p>
            <a:pPr algn="just"/>
            <a:r>
              <a:rPr lang="en-IN" dirty="0"/>
              <a:t> </a:t>
            </a:r>
          </a:p>
          <a:p>
            <a:pPr algn="just">
              <a:buFont typeface="Arial" panose="020B0604020202020204" pitchFamily="34" charset="0"/>
              <a:buChar char="•"/>
            </a:pPr>
            <a:r>
              <a:rPr lang="en-IN" dirty="0"/>
              <a:t>     Add more interactive filters.</a:t>
            </a:r>
          </a:p>
        </p:txBody>
      </p:sp>
    </p:spTree>
    <p:extLst>
      <p:ext uri="{BB962C8B-B14F-4D97-AF65-F5344CB8AC3E}">
        <p14:creationId xmlns:p14="http://schemas.microsoft.com/office/powerpoint/2010/main" val="7742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958B10-BCA6-BF41-4E20-534ED71956CA}"/>
              </a:ext>
            </a:extLst>
          </p:cNvPr>
          <p:cNvSpPr/>
          <p:nvPr/>
        </p:nvSpPr>
        <p:spPr>
          <a:xfrm>
            <a:off x="95251" y="4762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TOOLS  &amp;  TECHNOLOGIES </a:t>
            </a:r>
            <a:endParaRPr lang="en-IN" sz="2800" dirty="0"/>
          </a:p>
        </p:txBody>
      </p:sp>
      <p:sp>
        <p:nvSpPr>
          <p:cNvPr id="4" name="TextBox 3">
            <a:extLst>
              <a:ext uri="{FF2B5EF4-FFF2-40B4-BE49-F238E27FC236}">
                <a16:creationId xmlns:a16="http://schemas.microsoft.com/office/drawing/2014/main" id="{B5EF438E-411C-5F57-45F2-D71A98683FC8}"/>
              </a:ext>
            </a:extLst>
          </p:cNvPr>
          <p:cNvSpPr txBox="1"/>
          <p:nvPr/>
        </p:nvSpPr>
        <p:spPr>
          <a:xfrm>
            <a:off x="1470581" y="1772239"/>
            <a:ext cx="9558779" cy="3139321"/>
          </a:xfrm>
          <a:prstGeom prst="rect">
            <a:avLst/>
          </a:prstGeom>
          <a:noFill/>
        </p:spPr>
        <p:txBody>
          <a:bodyPr wrap="square">
            <a:spAutoFit/>
          </a:bodyPr>
          <a:lstStyle/>
          <a:p>
            <a:pPr algn="just"/>
            <a:r>
              <a:rPr lang="en-IN" b="1" dirty="0"/>
              <a:t>Tools Used</a:t>
            </a:r>
          </a:p>
          <a:p>
            <a:pPr algn="just"/>
            <a:endParaRPr lang="en-IN" b="1" dirty="0"/>
          </a:p>
          <a:p>
            <a:pPr algn="just">
              <a:buFont typeface="Arial" panose="020B0604020202020204" pitchFamily="34" charset="0"/>
              <a:buChar char="•"/>
            </a:pPr>
            <a:r>
              <a:rPr lang="en-IN" dirty="0"/>
              <a:t>     Tableau Public </a:t>
            </a:r>
          </a:p>
          <a:p>
            <a:pPr algn="just">
              <a:buFont typeface="Arial" panose="020B0604020202020204" pitchFamily="34" charset="0"/>
              <a:buChar char="•"/>
            </a:pPr>
            <a:endParaRPr lang="en-IN" dirty="0"/>
          </a:p>
          <a:p>
            <a:pPr algn="just">
              <a:buFont typeface="Arial" panose="020B0604020202020204" pitchFamily="34" charset="0"/>
              <a:buChar char="•"/>
            </a:pPr>
            <a:r>
              <a:rPr lang="en-IN" dirty="0"/>
              <a:t>     Microsoft Excel </a:t>
            </a:r>
          </a:p>
          <a:p>
            <a:pPr algn="just">
              <a:buFont typeface="Arial" panose="020B0604020202020204" pitchFamily="34" charset="0"/>
              <a:buChar char="•"/>
            </a:pPr>
            <a:endParaRPr lang="en-IN" dirty="0"/>
          </a:p>
          <a:p>
            <a:pPr algn="just">
              <a:buFont typeface="Arial" panose="020B0604020202020204" pitchFamily="34" charset="0"/>
              <a:buChar char="•"/>
            </a:pPr>
            <a:r>
              <a:rPr lang="en-IN" dirty="0"/>
              <a:t>     CSV Dataset</a:t>
            </a:r>
          </a:p>
          <a:p>
            <a:pPr algn="just">
              <a:buFont typeface="Arial" panose="020B0604020202020204" pitchFamily="34" charset="0"/>
              <a:buChar char="•"/>
            </a:pPr>
            <a:endParaRPr lang="en-IN" dirty="0"/>
          </a:p>
          <a:p>
            <a:pPr algn="just">
              <a:buFont typeface="Arial" panose="020B0604020202020204" pitchFamily="34" charset="0"/>
              <a:buChar char="•"/>
            </a:pPr>
            <a:r>
              <a:rPr lang="en-IN" dirty="0"/>
              <a:t>     Interactive Filters</a:t>
            </a:r>
          </a:p>
          <a:p>
            <a:pPr algn="just"/>
            <a:r>
              <a:rPr lang="en-IN" dirty="0"/>
              <a:t> </a:t>
            </a:r>
          </a:p>
          <a:p>
            <a:pPr algn="just">
              <a:buFont typeface="Arial" panose="020B0604020202020204" pitchFamily="34" charset="0"/>
              <a:buChar char="•"/>
            </a:pPr>
            <a:r>
              <a:rPr lang="en-IN" dirty="0"/>
              <a:t>     Data Visualization Techniques</a:t>
            </a:r>
          </a:p>
        </p:txBody>
      </p:sp>
    </p:spTree>
    <p:extLst>
      <p:ext uri="{BB962C8B-B14F-4D97-AF65-F5344CB8AC3E}">
        <p14:creationId xmlns:p14="http://schemas.microsoft.com/office/powerpoint/2010/main" val="1011436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90439D-6175-0629-F09B-FCECC4B971BE}"/>
              </a:ext>
            </a:extLst>
          </p:cNvPr>
          <p:cNvSpPr/>
          <p:nvPr/>
        </p:nvSpPr>
        <p:spPr>
          <a:xfrm>
            <a:off x="95251" y="47625"/>
            <a:ext cx="11887200" cy="809625"/>
          </a:xfrm>
          <a:prstGeom prst="rect">
            <a:avLst/>
          </a:prstGeom>
          <a:solidFill>
            <a:srgbClr val="00206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     CONCLUSION </a:t>
            </a:r>
            <a:endParaRPr lang="en-IN" sz="2800" dirty="0"/>
          </a:p>
        </p:txBody>
      </p:sp>
      <p:sp>
        <p:nvSpPr>
          <p:cNvPr id="4" name="TextBox 3">
            <a:extLst>
              <a:ext uri="{FF2B5EF4-FFF2-40B4-BE49-F238E27FC236}">
                <a16:creationId xmlns:a16="http://schemas.microsoft.com/office/drawing/2014/main" id="{593AC12E-2074-B6DD-5C8B-C7DDBDB0D046}"/>
              </a:ext>
            </a:extLst>
          </p:cNvPr>
          <p:cNvSpPr txBox="1"/>
          <p:nvPr/>
        </p:nvSpPr>
        <p:spPr>
          <a:xfrm>
            <a:off x="1234911" y="1687399"/>
            <a:ext cx="10548594" cy="4026878"/>
          </a:xfrm>
          <a:prstGeom prst="rect">
            <a:avLst/>
          </a:prstGeom>
          <a:noFill/>
        </p:spPr>
        <p:txBody>
          <a:bodyPr wrap="square">
            <a:spAutoFit/>
          </a:bodyPr>
          <a:lstStyle/>
          <a:p>
            <a:pPr algn="just"/>
            <a:r>
              <a:rPr lang="en-US" dirty="0"/>
              <a:t>The Airline Flight Performance Dashboard provides an interactive overview of airline operations using Tableau.</a:t>
            </a:r>
          </a:p>
          <a:p>
            <a:pPr algn="just"/>
            <a:endParaRPr lang="en-US" dirty="0"/>
          </a:p>
          <a:p>
            <a:pPr algn="just"/>
            <a:r>
              <a:rPr lang="en-US" dirty="0"/>
              <a:t>It helps users to:</a:t>
            </a:r>
          </a:p>
          <a:p>
            <a:pPr algn="just"/>
            <a:endParaRPr lang="en-US" dirty="0"/>
          </a:p>
          <a:p>
            <a:pPr algn="just">
              <a:buFont typeface="Arial" panose="020B0604020202020204" pitchFamily="34" charset="0"/>
              <a:buChar char="•"/>
            </a:pPr>
            <a:r>
              <a:rPr lang="en-US" dirty="0"/>
              <a:t>     Monitor flight performance.</a:t>
            </a:r>
          </a:p>
          <a:p>
            <a:pPr algn="just"/>
            <a:r>
              <a:rPr lang="en-US" dirty="0"/>
              <a:t> </a:t>
            </a:r>
          </a:p>
          <a:p>
            <a:pPr algn="just">
              <a:buFont typeface="Arial" panose="020B0604020202020204" pitchFamily="34" charset="0"/>
              <a:buChar char="•"/>
            </a:pPr>
            <a:r>
              <a:rPr lang="en-US" dirty="0"/>
              <a:t>     Analyze delays and cancellations. </a:t>
            </a:r>
          </a:p>
          <a:p>
            <a:pPr algn="just"/>
            <a:r>
              <a:rPr lang="en-US" dirty="0"/>
              <a:t> </a:t>
            </a:r>
          </a:p>
          <a:p>
            <a:pPr algn="just">
              <a:buFont typeface="Arial" panose="020B0604020202020204" pitchFamily="34" charset="0"/>
              <a:buChar char="•"/>
            </a:pPr>
            <a:r>
              <a:rPr lang="en-US" dirty="0"/>
              <a:t>     Compare airline performance.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     Identify monthly flight trends. </a:t>
            </a:r>
          </a:p>
          <a:p>
            <a:pPr algn="just"/>
            <a:r>
              <a:rPr lang="en-US" dirty="0"/>
              <a:t>  </a:t>
            </a:r>
          </a:p>
          <a:p>
            <a:pPr algn="just">
              <a:buFont typeface="Arial" panose="020B0604020202020204" pitchFamily="34" charset="0"/>
              <a:buChar char="•"/>
            </a:pPr>
            <a:r>
              <a:rPr lang="en-US" dirty="0"/>
              <a:t>     Support data-driven operational decisions.</a:t>
            </a:r>
          </a:p>
        </p:txBody>
      </p:sp>
    </p:spTree>
    <p:extLst>
      <p:ext uri="{BB962C8B-B14F-4D97-AF65-F5344CB8AC3E}">
        <p14:creationId xmlns:p14="http://schemas.microsoft.com/office/powerpoint/2010/main" val="2052273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3887001-49BB-6C9A-5EB9-34996259A896}"/>
              </a:ext>
            </a:extLst>
          </p:cNvPr>
          <p:cNvSpPr txBox="1">
            <a:spLocks/>
          </p:cNvSpPr>
          <p:nvPr/>
        </p:nvSpPr>
        <p:spPr>
          <a:xfrm>
            <a:off x="85725" y="1924050"/>
            <a:ext cx="12030075" cy="2124076"/>
          </a:xfrm>
          <a:prstGeom prst="rect">
            <a:avLst/>
          </a:prstGeom>
          <a:solidFill>
            <a:srgbClr val="002060"/>
          </a:solidFill>
          <a:ln w="19050" cap="flat" cmpd="sng" algn="ctr">
            <a:solidFill>
              <a:schemeClr val="accent1">
                <a:lumMod val="60000"/>
                <a:lumOff val="4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4800" b="1" dirty="0">
                <a:solidFill>
                  <a:schemeClr val="bg2"/>
                </a:solidFill>
                <a:highlight>
                  <a:srgbClr val="000080"/>
                </a:highlight>
              </a:rPr>
              <a:t>THANK  YOU</a:t>
            </a:r>
            <a:endParaRPr lang="en-IN" sz="4800" b="1" dirty="0">
              <a:solidFill>
                <a:schemeClr val="bg2"/>
              </a:solidFill>
              <a:highlight>
                <a:srgbClr val="000080"/>
              </a:highlight>
            </a:endParaRPr>
          </a:p>
        </p:txBody>
      </p:sp>
    </p:spTree>
    <p:extLst>
      <p:ext uri="{BB962C8B-B14F-4D97-AF65-F5344CB8AC3E}">
        <p14:creationId xmlns:p14="http://schemas.microsoft.com/office/powerpoint/2010/main" val="195541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642</Words>
  <Application>Microsoft Office PowerPoint</Application>
  <PresentationFormat>Widescreen</PresentationFormat>
  <Paragraphs>178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AIRLINE FLIGHT PERFORMANE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FLIGHT PERFORMANE DASHBOARD</dc:title>
  <dc:creator>aiswarya 0p</dc:creator>
  <cp:lastModifiedBy>aiswarya 0p</cp:lastModifiedBy>
  <cp:revision>3</cp:revision>
  <dcterms:created xsi:type="dcterms:W3CDTF">2026-08-05T15:48:00Z</dcterms:created>
  <dcterms:modified xsi:type="dcterms:W3CDTF">2026-08-07T04:37:57Z</dcterms:modified>
</cp:coreProperties>
</file>