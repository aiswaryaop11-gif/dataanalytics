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8" r:id="rId5"/>
    <p:sldId id="263" r:id="rId6"/>
    <p:sldId id="259" r:id="rId7"/>
    <p:sldId id="264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9D3358-8B7A-4D4E-B261-4FFF1BEB04FA}" v="213" dt="2026-07-20T07:33:15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707F-F306-1A81-ADF5-CEF343088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F8692-0470-B895-D0E0-FC0D8E51D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FF642-390B-FD41-EBE7-589EB470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AD94-94E6-E1DA-865B-D9B00310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47EFA-40E6-E072-0C94-C3EBE9B2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02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CCD1-C0CB-3AE1-4C50-30FCD44E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A9A78-7C56-F28B-9341-70C4B15E1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9C601-02D7-CBE7-148A-17C41FA86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9962F-AA64-9776-3CD2-EFF668BC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E3BA0-F0EC-3CCA-1471-EFCEA115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434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7381-152B-0118-3CD8-B7A2FC198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E2609-A7F3-04DA-4C53-739B5B9DF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382EC-3890-5480-9F06-56B5C08F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98BF4-463C-B296-65D0-5B1E3D00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1024F-92CD-B5F0-F9DA-39E40DB3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29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84DB-9A4D-D757-B876-0A30797B4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EE028-61FD-968F-765C-275F4FBD0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AA6F9-5C1E-F9D1-F8DB-4915501D6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12EDC-9BC2-2860-52AB-96B8C7FC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9362E-1CC0-9F28-2C6F-8829809C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79029-67C3-D3D6-966D-CD1F3E3B6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23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5E080-9A1F-C53F-8101-025404F8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9CB4-5E32-BB8B-145B-CCF50BDF7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249F2-3D57-7C9F-FF34-0F83F3258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78289-024B-3F6B-05DD-549FC1C6C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866DA-51B3-BF3C-9E8B-A34FF7A4F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13ABB-9D32-64B2-A794-69664C0B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5FABC-EB1E-0F6F-4E7A-A0F4B86F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DBD5C9-63C7-1151-42AA-A69B23EB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95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C722-5313-4F4E-CA00-A996623A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84B55-CAA4-7870-5627-7ECC7247C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D08FF-8784-7786-CBD3-FBB7F72D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CCD32-7554-43BE-E5B3-5A34586D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69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BF4462-AA2B-C609-CAF6-8FEA9D5F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34DDD-CF85-040D-3C56-2C71C193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C4405-A6C1-3DE6-2140-80E9AAA4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1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25A4-0D7A-CD58-FF1D-A7960B19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778A6-F09D-233D-D0AF-1BFC1AD40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C1847-8DE9-A802-66B0-C4DF8B6E9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933DD-1404-58FA-A592-7545DB37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D62DC-F724-E252-9EB1-D2D2F592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42578-3D8F-1FDA-1BC7-24DE4E8B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9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EB5F-71D4-EDF3-A621-11B2912E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902880-E47D-4F35-AE48-A878766A2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62547-2046-75EA-A4FB-DB2E34EC2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FEF78-9E7B-E27A-0388-CE6C9A79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140FB-DC1A-AF26-3A84-E1DC161A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7B862-8F3C-AACE-A362-9256D710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6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E55B-3B4E-65C0-C54A-1B636A89B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94819-CAAB-F0E0-CCA1-7F833337A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17A82-1EFF-F972-99C8-03C2BBD8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9CAF-87B6-21B4-7230-192405A7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990BD-0269-1767-B084-E35CCFE16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5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82F7D-6282-B190-E372-1E06FB542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8ABA0-0CB7-8752-7818-BA1B2DDBF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BFAC7-3471-F30B-7892-2F631CE3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CFE77-B398-A09A-D7D2-9EE7E32D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12D06-66CB-69FC-2D7E-F50F5762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0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B30EF-E40F-E292-D71C-B905B525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7A282-21DC-C3B2-DB22-E6147B80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C1FEF-C935-5BA3-74CC-567F591C1C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BAC1D-CB4A-4E56-86F6-14F92F8701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29B31-0B63-38DF-922C-9D4C0D566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D8FD4-CA7D-0000-F33A-E091770B8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B342A-67AA-4AE0-808D-384FA7D601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08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6A20C6-28E0-27E3-BB0C-CED3580F119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white">
          <a:xfrm>
            <a:off x="1687484" y="3890358"/>
            <a:ext cx="7985265" cy="1577340"/>
          </a:xfrm>
        </p:spPr>
        <p:txBody>
          <a:bodyPr>
            <a:noAutofit/>
          </a:bodyPr>
          <a:lstStyle/>
          <a:p>
            <a:r>
              <a:rPr lang="en-US" sz="2000" i="1" dirty="0">
                <a:solidFill>
                  <a:schemeClr val="bg2">
                    <a:lumMod val="25000"/>
                  </a:schemeClr>
                </a:solidFill>
              </a:rPr>
              <a:t>    Power BI Dashboard Project</a:t>
            </a:r>
          </a:p>
          <a:p>
            <a:endParaRPr lang="en-US" sz="2000" i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000" i="1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Presented by</a:t>
            </a:r>
          </a:p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     Aiswarya OP</a:t>
            </a:r>
            <a:endParaRPr lang="en-IN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AABEC-DC6C-18DD-B8B6-D5386DFBE384}"/>
              </a:ext>
            </a:extLst>
          </p:cNvPr>
          <p:cNvSpPr/>
          <p:nvPr/>
        </p:nvSpPr>
        <p:spPr>
          <a:xfrm>
            <a:off x="352425" y="1047750"/>
            <a:ext cx="11468100" cy="171207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highlight>
                  <a:srgbClr val="800080"/>
                </a:highlight>
              </a:rPr>
              <a:t>E-COMMERCE SALES INSIGHTS DASHBOARD</a:t>
            </a:r>
            <a:endParaRPr lang="en-IN" sz="3600" b="1" dirty="0">
              <a:highlight>
                <a:srgbClr val="8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0517357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BA83-9840-7E10-1F5E-D8AEF01B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4" y="1695796"/>
            <a:ext cx="10555778" cy="448116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 the overall performance of E-Commerce sales data.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 sales trends and customer purchasing patterns. 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 revenue and profit across product categories.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Evaluate payment methods and customer ratings.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Develop an interactive Power BI dashboard for data-driven decision-making.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C9467E-4980-30C5-7D5F-96F14DC13596}"/>
              </a:ext>
            </a:extLst>
          </p:cNvPr>
          <p:cNvSpPr/>
          <p:nvPr/>
        </p:nvSpPr>
        <p:spPr>
          <a:xfrm>
            <a:off x="268778" y="58190"/>
            <a:ext cx="11654443" cy="9832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   </a:t>
            </a:r>
            <a:r>
              <a:rPr lang="en-US" sz="2800" b="1" dirty="0">
                <a:solidFill>
                  <a:schemeClr val="bg2"/>
                </a:solidFill>
              </a:rPr>
              <a:t>BUSINESS  OBJECTIVES</a:t>
            </a:r>
            <a:endParaRPr lang="en-IN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27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8B6C9-4547-47C2-EDC0-596702BA3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267" y="1920239"/>
            <a:ext cx="9934478" cy="425672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 Name  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E-Commerce Sales Dataset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Source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: Kaggle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Records    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50,001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Columns   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Type           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Structured CSV Dataset</a:t>
            </a:r>
          </a:p>
          <a:p>
            <a:pPr marL="0" indent="0" algn="just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Attributes :</a:t>
            </a:r>
          </a:p>
          <a:p>
            <a:pPr marL="0" indent="0" algn="just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ID, Order Date, Product Category, Price, Discount, Quantity Sold,                                     Customer    Region, Payment Method, Rating, Total Revenue, Profit.</a:t>
            </a:r>
          </a:p>
          <a:p>
            <a:pPr marL="0" indent="0" algn="just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</a:t>
            </a:r>
          </a:p>
          <a:p>
            <a:pPr marL="0" indent="0" algn="just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442FA-0328-B740-21DD-40300A2A9A68}"/>
              </a:ext>
            </a:extLst>
          </p:cNvPr>
          <p:cNvSpPr/>
          <p:nvPr/>
        </p:nvSpPr>
        <p:spPr>
          <a:xfrm>
            <a:off x="364375" y="58189"/>
            <a:ext cx="11463250" cy="100861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   </a:t>
            </a:r>
            <a:r>
              <a:rPr lang="en-US" sz="2800" b="1" dirty="0">
                <a:solidFill>
                  <a:schemeClr val="bg2"/>
                </a:solidFill>
              </a:rPr>
              <a:t>DATASET OVERVIEW</a:t>
            </a:r>
            <a:endParaRPr lang="en-IN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779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B3740-AE3C-06DE-9B95-D866283C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650" y="1546167"/>
            <a:ext cx="10480964" cy="4380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Data Understanding</a:t>
            </a:r>
          </a:p>
          <a:p>
            <a:pPr marL="0" indent="0">
              <a:buNone/>
            </a:pPr>
            <a:r>
              <a:rPr lang="en-US" sz="2000" dirty="0"/>
              <a:t>Before creating the dashboard, the dataset was analyzed to understand its structure.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following were identified: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Numerical columns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Categorical columns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Date fields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Sales and customer-related attributes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helped in selecting suitable visualizations for analysis</a:t>
            </a:r>
            <a:r>
              <a:rPr lang="en-US" sz="2400" dirty="0"/>
              <a:t>.</a:t>
            </a:r>
          </a:p>
          <a:p>
            <a:pPr algn="just"/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89E1D-C837-E997-72A7-0EB3C4E04ACE}"/>
              </a:ext>
            </a:extLst>
          </p:cNvPr>
          <p:cNvSpPr/>
          <p:nvPr/>
        </p:nvSpPr>
        <p:spPr>
          <a:xfrm>
            <a:off x="374073" y="91440"/>
            <a:ext cx="11421687" cy="100076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DATA UNDERSTANDING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40125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F2DCE5-4F3B-62FB-2365-1E2A4A06452B}"/>
              </a:ext>
            </a:extLst>
          </p:cNvPr>
          <p:cNvSpPr/>
          <p:nvPr/>
        </p:nvSpPr>
        <p:spPr>
          <a:xfrm>
            <a:off x="4088129" y="1146163"/>
            <a:ext cx="3912525" cy="5786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Dataset Collection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CF9A73-8F76-3617-DEEF-6934C1748BDE}"/>
              </a:ext>
            </a:extLst>
          </p:cNvPr>
          <p:cNvSpPr/>
          <p:nvPr/>
        </p:nvSpPr>
        <p:spPr>
          <a:xfrm>
            <a:off x="4088129" y="2963721"/>
            <a:ext cx="3912524" cy="57868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Transformation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577250-CE51-4AE5-DFE7-1BA9D2B8F7DA}"/>
              </a:ext>
            </a:extLst>
          </p:cNvPr>
          <p:cNvSpPr/>
          <p:nvPr/>
        </p:nvSpPr>
        <p:spPr>
          <a:xfrm>
            <a:off x="4088129" y="3907850"/>
            <a:ext cx="3912524" cy="57868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Dashboard Development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DD9170-5A25-D8C2-F815-D1C3C4AFD4FB}"/>
              </a:ext>
            </a:extLst>
          </p:cNvPr>
          <p:cNvSpPr/>
          <p:nvPr/>
        </p:nvSpPr>
        <p:spPr>
          <a:xfrm>
            <a:off x="4088129" y="5759667"/>
            <a:ext cx="3912525" cy="57868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 Insights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E390DC-BB15-B989-B0E3-1C904C308951}"/>
              </a:ext>
            </a:extLst>
          </p:cNvPr>
          <p:cNvSpPr/>
          <p:nvPr/>
        </p:nvSpPr>
        <p:spPr>
          <a:xfrm>
            <a:off x="4088129" y="4846857"/>
            <a:ext cx="3912524" cy="56899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Analysis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C90A657-4046-0E0F-68EA-9BD5036171DB}"/>
              </a:ext>
            </a:extLst>
          </p:cNvPr>
          <p:cNvSpPr/>
          <p:nvPr/>
        </p:nvSpPr>
        <p:spPr>
          <a:xfrm>
            <a:off x="5911663" y="1767541"/>
            <a:ext cx="265457" cy="2563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CFFF13-B7C3-ADD3-30C2-5450A59C14D3}"/>
              </a:ext>
            </a:extLst>
          </p:cNvPr>
          <p:cNvSpPr/>
          <p:nvPr/>
        </p:nvSpPr>
        <p:spPr>
          <a:xfrm>
            <a:off x="4088129" y="2048754"/>
            <a:ext cx="3912525" cy="57868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Cleaning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9B7B9DE2-382C-D32A-39EC-11F7CB8F38E0}"/>
              </a:ext>
            </a:extLst>
          </p:cNvPr>
          <p:cNvSpPr/>
          <p:nvPr/>
        </p:nvSpPr>
        <p:spPr>
          <a:xfrm>
            <a:off x="5911663" y="2677413"/>
            <a:ext cx="265457" cy="2563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5CE9AC9-1FD8-AF85-3789-B52F97F41ACA}"/>
              </a:ext>
            </a:extLst>
          </p:cNvPr>
          <p:cNvSpPr/>
          <p:nvPr/>
        </p:nvSpPr>
        <p:spPr>
          <a:xfrm>
            <a:off x="5911663" y="3579938"/>
            <a:ext cx="265457" cy="2563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5F6E970-3E71-E1A6-A7BB-DF5AF99E9718}"/>
              </a:ext>
            </a:extLst>
          </p:cNvPr>
          <p:cNvSpPr/>
          <p:nvPr/>
        </p:nvSpPr>
        <p:spPr>
          <a:xfrm>
            <a:off x="5911663" y="4525528"/>
            <a:ext cx="265457" cy="2563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24556E2-3A3F-A72A-A22C-AE5C796273AB}"/>
              </a:ext>
            </a:extLst>
          </p:cNvPr>
          <p:cNvSpPr/>
          <p:nvPr/>
        </p:nvSpPr>
        <p:spPr>
          <a:xfrm>
            <a:off x="5911663" y="5453300"/>
            <a:ext cx="265457" cy="2563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Graphic 18" descr="Open folder with solid fill">
            <a:extLst>
              <a:ext uri="{FF2B5EF4-FFF2-40B4-BE49-F238E27FC236}">
                <a16:creationId xmlns:a16="http://schemas.microsoft.com/office/drawing/2014/main" id="{70F855C9-F20D-089F-AED1-3FD28C5F5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7879" y="1345658"/>
            <a:ext cx="284486" cy="284486"/>
          </a:xfrm>
          <a:prstGeom prst="rect">
            <a:avLst/>
          </a:prstGeom>
        </p:spPr>
      </p:pic>
      <p:pic>
        <p:nvPicPr>
          <p:cNvPr id="23" name="Graphic 22" descr="Single gear with solid fill">
            <a:extLst>
              <a:ext uri="{FF2B5EF4-FFF2-40B4-BE49-F238E27FC236}">
                <a16:creationId xmlns:a16="http://schemas.microsoft.com/office/drawing/2014/main" id="{E839DBAD-0F4E-F271-5B05-94ABEDB44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7879" y="3096508"/>
            <a:ext cx="320217" cy="320217"/>
          </a:xfrm>
          <a:prstGeom prst="rect">
            <a:avLst/>
          </a:prstGeom>
        </p:spPr>
      </p:pic>
      <p:pic>
        <p:nvPicPr>
          <p:cNvPr id="25" name="Graphic 24" descr="Bar chart with solid fill">
            <a:extLst>
              <a:ext uri="{FF2B5EF4-FFF2-40B4-BE49-F238E27FC236}">
                <a16:creationId xmlns:a16="http://schemas.microsoft.com/office/drawing/2014/main" id="{0B12C4EB-5D58-4D95-9BCE-17466C32A9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3189" y="4062329"/>
            <a:ext cx="262451" cy="262451"/>
          </a:xfrm>
          <a:prstGeom prst="rect">
            <a:avLst/>
          </a:prstGeom>
        </p:spPr>
      </p:pic>
      <p:pic>
        <p:nvPicPr>
          <p:cNvPr id="31" name="Graphic 30" descr="Periodic Graph with solid fill">
            <a:extLst>
              <a:ext uri="{FF2B5EF4-FFF2-40B4-BE49-F238E27FC236}">
                <a16:creationId xmlns:a16="http://schemas.microsoft.com/office/drawing/2014/main" id="{38D060A3-8BD6-6E8D-B236-4906BE6609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53189" y="4919416"/>
            <a:ext cx="333869" cy="333869"/>
          </a:xfrm>
          <a:prstGeom prst="rect">
            <a:avLst/>
          </a:prstGeom>
        </p:spPr>
      </p:pic>
      <p:pic>
        <p:nvPicPr>
          <p:cNvPr id="35" name="Graphic 34" descr="Lightbulb with solid fill">
            <a:extLst>
              <a:ext uri="{FF2B5EF4-FFF2-40B4-BE49-F238E27FC236}">
                <a16:creationId xmlns:a16="http://schemas.microsoft.com/office/drawing/2014/main" id="{9701AF0D-5C9A-A866-3CA6-6A57951406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64434" y="5887699"/>
            <a:ext cx="322624" cy="322624"/>
          </a:xfrm>
          <a:prstGeom prst="rect">
            <a:avLst/>
          </a:prstGeom>
        </p:spPr>
      </p:pic>
      <p:pic>
        <p:nvPicPr>
          <p:cNvPr id="18" name="Graphic 17" descr="Filter outline">
            <a:extLst>
              <a:ext uri="{FF2B5EF4-FFF2-40B4-BE49-F238E27FC236}">
                <a16:creationId xmlns:a16="http://schemas.microsoft.com/office/drawing/2014/main" id="{9243B077-088C-0F88-0327-9A528A2470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42343" y="2219498"/>
            <a:ext cx="396032" cy="2992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B5B564F-E469-4C12-4977-940BC2D66F9C}"/>
              </a:ext>
            </a:extLst>
          </p:cNvPr>
          <p:cNvSpPr/>
          <p:nvPr/>
        </p:nvSpPr>
        <p:spPr>
          <a:xfrm>
            <a:off x="171450" y="85200"/>
            <a:ext cx="11849100" cy="8950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2"/>
                </a:solidFill>
              </a:rPr>
              <a:t>     METHODOLOGY</a:t>
            </a:r>
            <a:endParaRPr lang="en-IN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71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20" grpId="0" animBg="1"/>
      <p:bldP spid="3" grpId="0" animBg="1"/>
      <p:bldP spid="9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92D28-6C52-D864-122D-999ADC910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19" y="1172095"/>
            <a:ext cx="10796154" cy="561817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Process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following steps were performed:</a:t>
            </a:r>
          </a:p>
          <a:p>
            <a:pPr marL="0" indent="0">
              <a:buNone/>
            </a:pPr>
            <a:endParaRPr lang="en-US" sz="8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Removed duplicate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Checked missing values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Corrected data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Standardized data format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Created calculated measures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Prepared data using Power Query </a:t>
            </a:r>
          </a:p>
          <a:p>
            <a:pPr marL="0" indent="0">
              <a:buNone/>
            </a:pPr>
            <a:endParaRPr lang="en-US" sz="8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Created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Profit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Average Rating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Average Discount %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DDB940-21AF-E4B1-D798-94C22C70F5F9}"/>
              </a:ext>
            </a:extLst>
          </p:cNvPr>
          <p:cNvSpPr/>
          <p:nvPr/>
        </p:nvSpPr>
        <p:spPr>
          <a:xfrm>
            <a:off x="203200" y="67734"/>
            <a:ext cx="11849100" cy="8882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2"/>
                </a:solidFill>
              </a:rPr>
              <a:t>     DATA CLEANING AND PREPARATION</a:t>
            </a:r>
            <a:endParaRPr lang="en-IN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55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4DE9A2-02C8-1B7B-B760-54CBB3EC9F7F}"/>
              </a:ext>
            </a:extLst>
          </p:cNvPr>
          <p:cNvSpPr/>
          <p:nvPr/>
        </p:nvSpPr>
        <p:spPr>
          <a:xfrm>
            <a:off x="257695" y="66503"/>
            <a:ext cx="11563003" cy="78139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    DASHBOARD SCREENSHORT</a:t>
            </a:r>
            <a:endParaRPr lang="en-IN" sz="3200" b="1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EF0BB1E-6DF2-C875-2414-C07E06D92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4" y="929416"/>
            <a:ext cx="10715104" cy="5625757"/>
          </a:xfrm>
          <a:prstGeom prst="rect">
            <a:avLst/>
          </a:prstGeom>
        </p:spPr>
      </p:pic>
      <p:sp>
        <p:nvSpPr>
          <p:cNvPr id="5" name="Arrow: Right 4">
            <a:hlinkClick r:id="rId3" action="ppaction://hlinksldjump"/>
            <a:extLst>
              <a:ext uri="{FF2B5EF4-FFF2-40B4-BE49-F238E27FC236}">
                <a16:creationId xmlns:a16="http://schemas.microsoft.com/office/drawing/2014/main" id="{37A65D79-97D1-8403-2C72-7E017ECA2832}"/>
              </a:ext>
            </a:extLst>
          </p:cNvPr>
          <p:cNvSpPr/>
          <p:nvPr/>
        </p:nvSpPr>
        <p:spPr>
          <a:xfrm>
            <a:off x="11646131" y="171451"/>
            <a:ext cx="545870" cy="377190"/>
          </a:xfrm>
          <a:prstGeom prst="rightArrow">
            <a:avLst>
              <a:gd name="adj1" fmla="val 50000"/>
              <a:gd name="adj2" fmla="val 65000"/>
            </a:avLst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244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AEB1BF-3C49-1788-C5F5-693F902FF7F1}"/>
              </a:ext>
            </a:extLst>
          </p:cNvPr>
          <p:cNvSpPr txBox="1"/>
          <p:nvPr/>
        </p:nvSpPr>
        <p:spPr>
          <a:xfrm>
            <a:off x="640081" y="814647"/>
            <a:ext cx="10590414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DASHBOARD COMPONENTS</a:t>
            </a:r>
          </a:p>
          <a:p>
            <a:endParaRPr lang="en-US" b="1" dirty="0"/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Profit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Rating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Sales by Category   –   Horizontal Bar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Monthly Revenue Trend   –   Line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Orders by Category   –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Treemap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Payment Method Distribution   </a:t>
            </a:r>
            <a:r>
              <a:rPr lang="en-IN" dirty="0"/>
              <a:t>–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Donut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Profit by Category    </a:t>
            </a:r>
            <a:r>
              <a:rPr lang="en-IN" dirty="0"/>
              <a:t>–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Column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Average Customer Rating    </a:t>
            </a:r>
            <a:r>
              <a:rPr lang="en-IN" dirty="0"/>
              <a:t>–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Bar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Average Discount Gauge     </a:t>
            </a:r>
            <a:r>
              <a:rPr lang="en-IN" dirty="0"/>
              <a:t>–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Gauge Chart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F6C7D-CE57-02F9-19AC-D2FBA2256D64}"/>
              </a:ext>
            </a:extLst>
          </p:cNvPr>
          <p:cNvSpPr/>
          <p:nvPr/>
        </p:nvSpPr>
        <p:spPr>
          <a:xfrm>
            <a:off x="315884" y="58190"/>
            <a:ext cx="11579629" cy="68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Left 5">
            <a:hlinkClick r:id="rId2" action="ppaction://hlinksldjump"/>
            <a:extLst>
              <a:ext uri="{FF2B5EF4-FFF2-40B4-BE49-F238E27FC236}">
                <a16:creationId xmlns:a16="http://schemas.microsoft.com/office/drawing/2014/main" id="{D6A12DBA-3223-0338-7E9B-CF359CDEEB84}"/>
              </a:ext>
            </a:extLst>
          </p:cNvPr>
          <p:cNvSpPr/>
          <p:nvPr/>
        </p:nvSpPr>
        <p:spPr>
          <a:xfrm>
            <a:off x="29095" y="133350"/>
            <a:ext cx="448888" cy="361257"/>
          </a:xfrm>
          <a:prstGeom prst="lef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64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94E3AA-8316-EB0D-8F52-11F1DD7AB071}"/>
              </a:ext>
            </a:extLst>
          </p:cNvPr>
          <p:cNvSpPr/>
          <p:nvPr/>
        </p:nvSpPr>
        <p:spPr>
          <a:xfrm>
            <a:off x="274320" y="66502"/>
            <a:ext cx="11579629" cy="83958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INSIGHTS AND FINDINGS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6A144-D552-20EB-E895-362A1C630485}"/>
              </a:ext>
            </a:extLst>
          </p:cNvPr>
          <p:cNvSpPr txBox="1"/>
          <p:nvPr/>
        </p:nvSpPr>
        <p:spPr>
          <a:xfrm>
            <a:off x="1064029" y="1438102"/>
            <a:ext cx="945157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Insights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Total Revenue: </a:t>
            </a:r>
            <a:r>
              <a:rPr lang="en-US" sz="2000" b="1" dirty="0"/>
              <a:t>32.87M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Total Profit: </a:t>
            </a:r>
            <a:r>
              <a:rPr lang="en-US" sz="2000" b="1" dirty="0"/>
              <a:t>1.64M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Total Orders: </a:t>
            </a:r>
            <a:r>
              <a:rPr lang="en-US" sz="2000" b="1" dirty="0"/>
              <a:t>50K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Average Customer Rating: </a:t>
            </a:r>
            <a:r>
              <a:rPr lang="en-US" sz="2000" b="1" dirty="0"/>
              <a:t>3.0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Average Discount: </a:t>
            </a:r>
            <a:r>
              <a:rPr lang="en-US" sz="2000" b="1" dirty="0"/>
              <a:t>13.34%</a:t>
            </a:r>
            <a:r>
              <a:rPr lang="en-US" sz="2000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Beauty category generated the highest revenue . </a:t>
            </a:r>
          </a:p>
          <a:p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Payment methods are almost evenly distributed .</a:t>
            </a:r>
          </a:p>
        </p:txBody>
      </p:sp>
      <p:sp>
        <p:nvSpPr>
          <p:cNvPr id="3" name="Arrow: Left 2">
            <a:hlinkClick r:id="rId2" action="ppaction://hlinksldjump"/>
            <a:extLst>
              <a:ext uri="{FF2B5EF4-FFF2-40B4-BE49-F238E27FC236}">
                <a16:creationId xmlns:a16="http://schemas.microsoft.com/office/drawing/2014/main" id="{917631ED-E6E8-07C3-EB8F-92F2360F8C07}"/>
              </a:ext>
            </a:extLst>
          </p:cNvPr>
          <p:cNvSpPr/>
          <p:nvPr/>
        </p:nvSpPr>
        <p:spPr>
          <a:xfrm>
            <a:off x="4676" y="228601"/>
            <a:ext cx="448888" cy="419272"/>
          </a:xfrm>
          <a:prstGeom prst="lef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9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34E028-76ED-E489-1BB8-12D628912F28}"/>
              </a:ext>
            </a:extLst>
          </p:cNvPr>
          <p:cNvSpPr/>
          <p:nvPr/>
        </p:nvSpPr>
        <p:spPr>
          <a:xfrm>
            <a:off x="314498" y="83128"/>
            <a:ext cx="11563003" cy="89777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2"/>
                </a:solidFill>
              </a:rPr>
              <a:t>   CHALLENGES  FACED</a:t>
            </a:r>
            <a:endParaRPr lang="en-IN" sz="2800" b="1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AB031-4175-E089-090C-7330FB743C73}"/>
              </a:ext>
            </a:extLst>
          </p:cNvPr>
          <p:cNvSpPr txBox="1"/>
          <p:nvPr/>
        </p:nvSpPr>
        <p:spPr>
          <a:xfrm>
            <a:off x="906087" y="1379913"/>
            <a:ext cx="885305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Challenges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Cleaning large dataset .</a:t>
            </a:r>
          </a:p>
          <a:p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Handling missing values 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Creating DAX measures .</a:t>
            </a:r>
          </a:p>
          <a:p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Selecting suitable visuals 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Dashboard alignment and formatting 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Maintaining a consistent dashboard theme 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0379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DFAF7F-3212-9AB0-93A6-D3E96609F2CA}"/>
              </a:ext>
            </a:extLst>
          </p:cNvPr>
          <p:cNvSpPr txBox="1"/>
          <p:nvPr/>
        </p:nvSpPr>
        <p:spPr>
          <a:xfrm>
            <a:off x="1022465" y="1687484"/>
            <a:ext cx="824830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Limitations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Dataset is static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No real-time data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Limited customer information  </a:t>
            </a:r>
          </a:p>
          <a:p>
            <a:r>
              <a:rPr lang="en-US" sz="2000" dirty="0"/>
              <a:t> </a:t>
            </a:r>
          </a:p>
          <a:p>
            <a:r>
              <a:rPr lang="en-US" sz="2000" b="1" dirty="0"/>
              <a:t>Future Enhancements 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Connect live 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Add forecasting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Include AI insights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Add drill-through reports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27894B-E170-246F-0959-F7AE92493B70}"/>
              </a:ext>
            </a:extLst>
          </p:cNvPr>
          <p:cNvSpPr/>
          <p:nvPr/>
        </p:nvSpPr>
        <p:spPr>
          <a:xfrm>
            <a:off x="174567" y="58188"/>
            <a:ext cx="11773593" cy="91440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LIMITATIONS AND FUTURE  ENHANCEMENTS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053703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415B92-FE00-5A58-494D-8A882AFC574A}"/>
              </a:ext>
            </a:extLst>
          </p:cNvPr>
          <p:cNvSpPr/>
          <p:nvPr/>
        </p:nvSpPr>
        <p:spPr>
          <a:xfrm>
            <a:off x="149629" y="74815"/>
            <a:ext cx="11795760" cy="9310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TOOLS  AND  TECHNOLOGIES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2B05E-9742-7720-0FF5-1D2B315523E2}"/>
              </a:ext>
            </a:extLst>
          </p:cNvPr>
          <p:cNvSpPr txBox="1"/>
          <p:nvPr/>
        </p:nvSpPr>
        <p:spPr>
          <a:xfrm>
            <a:off x="964276" y="1737360"/>
            <a:ext cx="81818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Tools Used</a:t>
            </a:r>
          </a:p>
          <a:p>
            <a:endParaRPr lang="en-IN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 Microsoft Power BI Desktop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 Microsoft Excel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 Power Query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 DAX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 Data Visualization </a:t>
            </a:r>
            <a:r>
              <a:rPr lang="en-IN" sz="2000"/>
              <a:t>Techniques </a:t>
            </a:r>
            <a:r>
              <a:rPr lang="en-IN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900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091A4B-B50D-0911-231D-C0FE7134335D}"/>
              </a:ext>
            </a:extLst>
          </p:cNvPr>
          <p:cNvSpPr/>
          <p:nvPr/>
        </p:nvSpPr>
        <p:spPr>
          <a:xfrm>
            <a:off x="198120" y="83128"/>
            <a:ext cx="11795760" cy="95596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CONCLUSION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179C2-97E8-DE81-F8E7-318F5B685F0C}"/>
              </a:ext>
            </a:extLst>
          </p:cNvPr>
          <p:cNvSpPr txBox="1"/>
          <p:nvPr/>
        </p:nvSpPr>
        <p:spPr>
          <a:xfrm>
            <a:off x="1072342" y="1862051"/>
            <a:ext cx="945988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E-Commerce Sales Insights Dashboard provides an interactive view of sales performance through meaningful visualizations.</a:t>
            </a:r>
          </a:p>
          <a:p>
            <a:endParaRPr lang="en-US" sz="2000" dirty="0"/>
          </a:p>
          <a:p>
            <a:r>
              <a:rPr lang="en-US" sz="2000" dirty="0"/>
              <a:t>It helps users to: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Monitor revenue and profit.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Analyze customer behavior.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Compare product categories.</a:t>
            </a:r>
          </a:p>
          <a:p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Support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529796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00E912-9B9E-D683-C785-E304687318A7}"/>
              </a:ext>
            </a:extLst>
          </p:cNvPr>
          <p:cNvSpPr/>
          <p:nvPr/>
        </p:nvSpPr>
        <p:spPr>
          <a:xfrm>
            <a:off x="0" y="2518756"/>
            <a:ext cx="12192000" cy="142978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800080"/>
                </a:highlight>
              </a:rPr>
              <a:t>THANK  YOU</a:t>
            </a:r>
            <a:endParaRPr lang="en-IN" sz="4800" b="1" dirty="0">
              <a:highlight>
                <a:srgbClr val="8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95692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1126</TotalTime>
  <Words>517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aiswarya 0p</dc:creator>
  <cp:lastModifiedBy>aiswarya 0p</cp:lastModifiedBy>
  <cp:revision>7</cp:revision>
  <dcterms:created xsi:type="dcterms:W3CDTF">2026-07-04T04:13:06Z</dcterms:created>
  <dcterms:modified xsi:type="dcterms:W3CDTF">2026-08-06T16:35:19Z</dcterms:modified>
</cp:coreProperties>
</file>