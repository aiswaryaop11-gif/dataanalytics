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0ABB-AEFC-D232-AB43-F2F93B1C4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2F101-F8AC-7FB4-00FC-A70CCE664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FDEFC-4503-F663-662B-E6F86682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92D7B-A0AC-2BA4-1232-2E26FE16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E081F-250A-2812-DE8E-E16ADB06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493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F208-AB4A-FAF2-ABC0-242C24CF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22683-319C-28E4-5090-200F7F836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B4B97-02D5-0016-ED9A-241CDD7E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FB281-7336-B153-B303-12E70F49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2251A-4075-5294-5BB2-BEA3B45E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2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7D79-2167-DC7F-75F6-2405D421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DAA07-641D-0B62-C6E4-5DE62A30E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C8A0-D269-6CF0-E9FF-4D7DE5C4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BCC68-CD71-EAFF-4A02-7591E998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A57B6-FB94-1383-64BD-3E9E6AD1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85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A8FB-7C53-7BD4-7276-63ACA6BD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4848-32A2-7053-5611-8E56EFBB1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938C6-1634-EEEE-29FC-C5BB4A131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0CDF8-31B8-ABE8-1FED-CD296295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52B5C-B5CB-17A1-4E8A-28B85AB0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E9F06-97F3-4324-565C-A28DE53B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7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1204-23B3-C71E-65B3-C36E0826F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BAC53-9D55-223F-CB39-12045341B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35947-29F9-BC3E-FC16-01870C37B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02E8E-2A05-68A6-8B44-E14441594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B31D2-5C22-6B16-66BC-8A7F14C27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94F04-567E-C98E-5CE8-19EDF9AB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EBB62-FB41-7221-80DE-9A9559A8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6B2EA-D445-F26D-D565-4961DA89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0852-1F5E-282D-46D5-725DABBD3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4827E-0DBC-E37B-06DE-4730DE4A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8B324-3CD3-4F75-157A-4AB031F5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80845-5E73-39A2-BC44-0C8FA4E41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45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17DEB-F307-7C27-C865-FA48E3F8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CEE8F-7172-26ED-D54D-D5202991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D15F7-DEA5-0ED3-A7E3-2406A4F6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38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5005-5EF1-0E19-3A42-BD39B464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746C-1229-4F97-D099-75A6B7177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A125D-2A41-B342-0399-8B6D019F0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DDB20-2F62-C9F2-EE45-91D9B6D3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9EC08-A92B-A4DF-FE65-B45C8060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FBF0C-26C5-356A-2AF2-E0E2FF35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4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FFB9-50AD-3059-1127-77C08E73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0D139-AEBB-CFDF-1650-3ABADD561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5CA30-9150-86FE-49E6-9BA85296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E7BD6-8A21-B04F-38CC-29E3715A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8FFD7-3DF6-68D6-F8A4-66B2E3C8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18CB0-202D-3B36-34FF-35D3ED72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22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311C1-906C-9D6B-2998-2A53E3F7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79112-9F13-4FBE-6E7A-60D891B16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E586-A2BE-688F-5C79-DC8CB0E5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5E397-9CDC-A100-BA0B-680EEA72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2F2DB-67F1-0C0F-113C-B45CEAEC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E5531-243D-93FE-45A6-80342E3E7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9CC06-4F5D-BD5F-7958-FBFA2FC4B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D0A89-2019-C2F7-0CC3-9ABAE584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92372-D466-BF77-EA36-BECDADD0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9B0A8-3F07-6EE2-7C4C-A422AC41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5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408F1D-ED49-D9D9-053C-B5833195E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71249-3884-5765-3F5A-F0148433B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6E12F-61CF-8271-3B0F-2926A8E49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329FF-E3BE-4362-9204-B42025E6D9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0E83F-A3CC-36E8-F057-8D94F3AC9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F980-CFC3-9682-EEF0-9614CC28A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B9FC5-A28B-489E-AEE5-4062E9D6A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51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5B69CF-94AC-F17D-B671-666306229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3998422"/>
            <a:ext cx="11820697" cy="1753985"/>
          </a:xfrm>
        </p:spPr>
        <p:txBody>
          <a:bodyPr>
            <a:normAutofit lnSpcReduction="10000"/>
          </a:bodyPr>
          <a:lstStyle/>
          <a:p>
            <a:r>
              <a:rPr lang="en-US" sz="2400" i="1" dirty="0">
                <a:solidFill>
                  <a:schemeClr val="bg2">
                    <a:lumMod val="25000"/>
                  </a:schemeClr>
                </a:solidFill>
              </a:rPr>
              <a:t> Excel Dashboard Project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Presented by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Aiswarya OP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17EAA4-8ADF-86D5-B851-D56DA21ED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9" y="1471353"/>
            <a:ext cx="11962014" cy="14956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highlight>
                  <a:srgbClr val="008000"/>
                </a:highlight>
              </a:rPr>
              <a:t>SUPERSTORE SALES ANALYSIS DASHBOARD</a:t>
            </a:r>
            <a:endParaRPr lang="en-IN" sz="3600" b="1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255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0DED9-919E-FA22-E3AF-A45D379212DB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PROBLEM STATEMENT / BUSINESS OBJECTIVES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E4B2C-AF54-05F9-EC61-C62909A5F1B4}"/>
              </a:ext>
            </a:extLst>
          </p:cNvPr>
          <p:cNvSpPr txBox="1"/>
          <p:nvPr/>
        </p:nvSpPr>
        <p:spPr>
          <a:xfrm>
            <a:off x="640079" y="1014152"/>
            <a:ext cx="109644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Problem Statement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Sales data contains valuable insights, but analyzing large datasets manually consuming and difficult. An interactive dashboard helps visualize sales performance and supports better business decisions.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594AE-579B-6217-23A0-CF50000F99D4}"/>
              </a:ext>
            </a:extLst>
          </p:cNvPr>
          <p:cNvSpPr txBox="1"/>
          <p:nvPr/>
        </p:nvSpPr>
        <p:spPr>
          <a:xfrm>
            <a:off x="756458" y="2485505"/>
            <a:ext cx="10573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Business Objectives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Analyze overall Superstore sales performance.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Identify sales and profit trends.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Compare sales across product categories.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Analyze customer segments and regions.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Evaluate shipping mode preferences.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Develop an interactive Excel dashboard for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189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F0F28-8621-19AD-857B-FF352E9B225C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DATASET  OVERVIEW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BD40F-9863-34A1-997F-5ED858B1B612}"/>
              </a:ext>
            </a:extLst>
          </p:cNvPr>
          <p:cNvSpPr txBox="1"/>
          <p:nvPr/>
        </p:nvSpPr>
        <p:spPr>
          <a:xfrm>
            <a:off x="781396" y="1421476"/>
            <a:ext cx="10457410" cy="44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DATASET INFORMATION</a:t>
            </a:r>
          </a:p>
          <a:p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  Industry:</a:t>
            </a:r>
            <a:r>
              <a:rPr lang="en-IN" dirty="0"/>
              <a:t> Retail (Superstore Orders)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  Data Source:</a:t>
            </a:r>
            <a:r>
              <a:rPr lang="en-IN" dirty="0"/>
              <a:t>  Superstore orders CSV dataset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  Records:</a:t>
            </a:r>
            <a:r>
              <a:rPr lang="en-IN" dirty="0"/>
              <a:t> 51,290 Orders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  Columns:</a:t>
            </a:r>
            <a:r>
              <a:rPr lang="en-IN" dirty="0"/>
              <a:t> 21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   Tool Used:</a:t>
            </a:r>
            <a:r>
              <a:rPr lang="en-IN" dirty="0"/>
              <a:t> Microsoft Excel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MAIN COLUMNS</a:t>
            </a:r>
          </a:p>
          <a:p>
            <a:endParaRPr lang="en-IN" b="1" dirty="0"/>
          </a:p>
          <a:p>
            <a:pPr algn="just"/>
            <a:r>
              <a:rPr lang="en-IN" dirty="0"/>
              <a:t>      Order ID,  Order Date,  Ship Mode,  Customer Name,  Segment,  Region,  Category,  Sub-Category, </a:t>
            </a:r>
          </a:p>
          <a:p>
            <a:pPr algn="just"/>
            <a:r>
              <a:rPr lang="en-IN" dirty="0"/>
              <a:t>      Product Name,  Sales,  Profit,  Quantity,  Discount.</a:t>
            </a:r>
          </a:p>
        </p:txBody>
      </p:sp>
    </p:spTree>
    <p:extLst>
      <p:ext uri="{BB962C8B-B14F-4D97-AF65-F5344CB8AC3E}">
        <p14:creationId xmlns:p14="http://schemas.microsoft.com/office/powerpoint/2010/main" val="393440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2121ED-8CA2-E148-D5D5-B0F757B4F644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DATA  UNDERSTANDING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677F8-3F27-6893-BF7D-CC7AA4DFAC51}"/>
              </a:ext>
            </a:extLst>
          </p:cNvPr>
          <p:cNvSpPr txBox="1"/>
          <p:nvPr/>
        </p:nvSpPr>
        <p:spPr>
          <a:xfrm>
            <a:off x="997527" y="1554480"/>
            <a:ext cx="102080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Before creating the dashboard, the dataset was analyzed to understand its structure.</a:t>
            </a:r>
          </a:p>
          <a:p>
            <a:pPr algn="just"/>
            <a:r>
              <a:rPr lang="en-US" dirty="0"/>
              <a:t>The following were identified: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Numerical columns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Categorical columns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Date fields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Customer and sales-related attributes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This helped in selecting appropriate Pivot Tables and charts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555857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C776A2-716A-850E-6B15-84C28C7E904A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DATA CLEANING AND PREPARATION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D8518-9C9A-A1AC-0B7F-59C72458B8B6}"/>
              </a:ext>
            </a:extLst>
          </p:cNvPr>
          <p:cNvSpPr txBox="1"/>
          <p:nvPr/>
        </p:nvSpPr>
        <p:spPr>
          <a:xfrm>
            <a:off x="947651" y="980902"/>
            <a:ext cx="819842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Data Cleaning Process</a:t>
            </a:r>
          </a:p>
          <a:p>
            <a:pPr algn="just"/>
            <a:endParaRPr lang="en-IN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Checked missing values.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Removed duplicate records.</a:t>
            </a:r>
          </a:p>
          <a:p>
            <a:pPr algn="just"/>
            <a:r>
              <a:rPr lang="en-IN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Verified data types. </a:t>
            </a:r>
          </a:p>
          <a:p>
            <a:pPr algn="just"/>
            <a:r>
              <a:rPr lang="en-IN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Applied proper number formatting.</a:t>
            </a:r>
          </a:p>
          <a:p>
            <a:pPr algn="just"/>
            <a:r>
              <a:rPr lang="en-IN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Created Pivot Tables. </a:t>
            </a:r>
          </a:p>
          <a:p>
            <a:pPr algn="just"/>
            <a:endParaRPr lang="en-IN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Prepared data for dashboard creation.</a:t>
            </a:r>
          </a:p>
          <a:p>
            <a:pPr algn="just"/>
            <a:r>
              <a:rPr lang="en-IN" dirty="0"/>
              <a:t> </a:t>
            </a:r>
          </a:p>
          <a:p>
            <a:pPr algn="just"/>
            <a:r>
              <a:rPr lang="en-IN" b="1" dirty="0"/>
              <a:t>KPIs Created</a:t>
            </a:r>
          </a:p>
          <a:p>
            <a:pPr algn="just"/>
            <a:endParaRPr lang="en-IN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Total Sales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Total Profit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Total Orders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    Total Quantity </a:t>
            </a:r>
          </a:p>
        </p:txBody>
      </p:sp>
    </p:spTree>
    <p:extLst>
      <p:ext uri="{BB962C8B-B14F-4D97-AF65-F5344CB8AC3E}">
        <p14:creationId xmlns:p14="http://schemas.microsoft.com/office/powerpoint/2010/main" val="206131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340A0D-A35F-B58D-9067-A99D4E8F7380}"/>
              </a:ext>
            </a:extLst>
          </p:cNvPr>
          <p:cNvSpPr/>
          <p:nvPr/>
        </p:nvSpPr>
        <p:spPr>
          <a:xfrm>
            <a:off x="108065" y="58190"/>
            <a:ext cx="11978640" cy="75143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DASHBOARD  SCREENSHORT</a:t>
            </a:r>
            <a:endParaRPr lang="en-IN" sz="2800" b="1" dirty="0"/>
          </a:p>
        </p:txBody>
      </p:sp>
      <p:pic>
        <p:nvPicPr>
          <p:cNvPr id="6" name="Picture 5" descr="A close-up of a chart&#10;&#10;Description automatically generated">
            <a:extLst>
              <a:ext uri="{FF2B5EF4-FFF2-40B4-BE49-F238E27FC236}">
                <a16:creationId xmlns:a16="http://schemas.microsoft.com/office/drawing/2014/main" id="{ECCB0EF3-0B50-0755-EC17-C154A235A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0"/>
            <a:ext cx="12086705" cy="5847311"/>
          </a:xfrm>
          <a:prstGeom prst="rect">
            <a:avLst/>
          </a:prstGeom>
        </p:spPr>
      </p:pic>
      <p:sp>
        <p:nvSpPr>
          <p:cNvPr id="3" name="Arrow: Right 2">
            <a:hlinkClick r:id="rId3" action="ppaction://hlinksldjump"/>
            <a:extLst>
              <a:ext uri="{FF2B5EF4-FFF2-40B4-BE49-F238E27FC236}">
                <a16:creationId xmlns:a16="http://schemas.microsoft.com/office/drawing/2014/main" id="{5A1088CB-FD7E-C0D9-4C96-89286C8427C1}"/>
              </a:ext>
            </a:extLst>
          </p:cNvPr>
          <p:cNvSpPr/>
          <p:nvPr/>
        </p:nvSpPr>
        <p:spPr>
          <a:xfrm>
            <a:off x="11744325" y="361950"/>
            <a:ext cx="447675" cy="35242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31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A27DAF-D871-D29F-344F-935D93DBCE48}"/>
              </a:ext>
            </a:extLst>
          </p:cNvPr>
          <p:cNvSpPr/>
          <p:nvPr/>
        </p:nvSpPr>
        <p:spPr>
          <a:xfrm>
            <a:off x="108065" y="58190"/>
            <a:ext cx="11978640" cy="65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B1A2C-2159-4747-8AFC-A78E524317F3}"/>
              </a:ext>
            </a:extLst>
          </p:cNvPr>
          <p:cNvSpPr txBox="1"/>
          <p:nvPr/>
        </p:nvSpPr>
        <p:spPr>
          <a:xfrm>
            <a:off x="847725" y="872836"/>
            <a:ext cx="97345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Dashboard Components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KPI Cards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Sales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Profit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Orders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Quantity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Visualizations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Sales &amp; Profit Trend by Year – Line Chart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Sales by Category – Column Chart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Sales by Segment – Donut Chart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Profit by Sub-Category – Horizontal Bar Chart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Sales by Region – Column Chart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Top 10 Customers by Sales – Pie Chart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Sales by Ship Mode – Area Chart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Filters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Region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Category. </a:t>
            </a:r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5C0C57BA-42FC-62EB-23E2-024BED5CCDC2}"/>
              </a:ext>
            </a:extLst>
          </p:cNvPr>
          <p:cNvSpPr/>
          <p:nvPr/>
        </p:nvSpPr>
        <p:spPr>
          <a:xfrm>
            <a:off x="105294" y="228600"/>
            <a:ext cx="447155" cy="355976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7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3F8845-CD7F-12D5-9878-A09D4F5DFFD1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INSIGHTS  AND  FINDINGS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A0F57-F6BB-FB38-C48C-4969D6EC5BD8}"/>
              </a:ext>
            </a:extLst>
          </p:cNvPr>
          <p:cNvSpPr txBox="1"/>
          <p:nvPr/>
        </p:nvSpPr>
        <p:spPr>
          <a:xfrm>
            <a:off x="1171576" y="1305341"/>
            <a:ext cx="87725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Sales: </a:t>
            </a:r>
            <a:r>
              <a:rPr lang="en-US" b="1" dirty="0"/>
              <a:t>12.64M</a:t>
            </a:r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Profit: </a:t>
            </a:r>
            <a:r>
              <a:rPr lang="en-US" b="1" dirty="0"/>
              <a:t>1.47M</a:t>
            </a:r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Orders: </a:t>
            </a:r>
            <a:r>
              <a:rPr lang="en-US" b="1" dirty="0"/>
              <a:t>51.29K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Total Quantity Sold: </a:t>
            </a:r>
            <a:r>
              <a:rPr lang="en-US" b="1" dirty="0"/>
              <a:t>178.31K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Sales showed steady growth from 2011 to 2014</a:t>
            </a:r>
            <a:r>
              <a:rPr lang="en-US" b="1" dirty="0"/>
              <a:t>.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Technology had the highest sales.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Consumer segment contributed the largest share of sales (52%).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Standard Class generated the highest sales.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Central region recorded the highest sales. </a:t>
            </a:r>
          </a:p>
        </p:txBody>
      </p:sp>
      <p:sp>
        <p:nvSpPr>
          <p:cNvPr id="6" name="Arrow: Left 5">
            <a:hlinkClick r:id="rId2" action="ppaction://hlinksldjump"/>
            <a:extLst>
              <a:ext uri="{FF2B5EF4-FFF2-40B4-BE49-F238E27FC236}">
                <a16:creationId xmlns:a16="http://schemas.microsoft.com/office/drawing/2014/main" id="{DCD1C233-751D-CCDF-F4C2-0EADF8931510}"/>
              </a:ext>
            </a:extLst>
          </p:cNvPr>
          <p:cNvSpPr/>
          <p:nvPr/>
        </p:nvSpPr>
        <p:spPr>
          <a:xfrm>
            <a:off x="0" y="190500"/>
            <a:ext cx="447155" cy="355976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3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B01114-C1DE-F18C-5DA9-B21681F2AEA7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CHALLENGES  FACED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E6703-C830-5FF5-07A8-AAD814A063BA}"/>
              </a:ext>
            </a:extLst>
          </p:cNvPr>
          <p:cNvSpPr txBox="1"/>
          <p:nvPr/>
        </p:nvSpPr>
        <p:spPr>
          <a:xfrm>
            <a:off x="1133475" y="1762125"/>
            <a:ext cx="93154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Challenges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Cleaning and organizing the dataset.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Creating Pivot Tables.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Color</a:t>
            </a:r>
            <a:r>
              <a:rPr lang="en-IN" dirty="0"/>
              <a:t>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KPI Formatting.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Selecting suitable chart types.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Designing an interactive dashboard.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Maintaining a consistent dashboard layout.</a:t>
            </a:r>
          </a:p>
        </p:txBody>
      </p:sp>
    </p:spTree>
    <p:extLst>
      <p:ext uri="{BB962C8B-B14F-4D97-AF65-F5344CB8AC3E}">
        <p14:creationId xmlns:p14="http://schemas.microsoft.com/office/powerpoint/2010/main" val="254008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3651A9-5409-A573-D388-D463723A19E8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LIMITATIONS  &amp;  FUTURE  ENHANCEMENTS 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0537A-48E4-2A99-F154-70BB5DFEEF46}"/>
              </a:ext>
            </a:extLst>
          </p:cNvPr>
          <p:cNvSpPr txBox="1"/>
          <p:nvPr/>
        </p:nvSpPr>
        <p:spPr>
          <a:xfrm>
            <a:off x="1219200" y="1381125"/>
            <a:ext cx="9686925" cy="487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Limitations</a:t>
            </a:r>
          </a:p>
          <a:p>
            <a:pPr algn="just"/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Static dataset.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No real-time updates.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Limited customer information.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r>
              <a:rPr lang="en-US" b="1" dirty="0"/>
              <a:t>Future Enhancements</a:t>
            </a:r>
          </a:p>
          <a:p>
            <a:pPr algn="just"/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Add monthly sales forecasting.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Connect live database.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Build dashboard in Power BI.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Add more interactive filters.</a:t>
            </a:r>
          </a:p>
        </p:txBody>
      </p:sp>
    </p:spTree>
    <p:extLst>
      <p:ext uri="{BB962C8B-B14F-4D97-AF65-F5344CB8AC3E}">
        <p14:creationId xmlns:p14="http://schemas.microsoft.com/office/powerpoint/2010/main" val="56125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28DB1C-2402-2580-8297-58C30465868A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TOOLS  &amp;  TECHNOLOGIES 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6158D-CD0B-5CDE-1097-5335FACC9AF7}"/>
              </a:ext>
            </a:extLst>
          </p:cNvPr>
          <p:cNvSpPr txBox="1"/>
          <p:nvPr/>
        </p:nvSpPr>
        <p:spPr>
          <a:xfrm>
            <a:off x="1428751" y="1581151"/>
            <a:ext cx="7715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Tools Used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Microsoft Excel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Pivot Tables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Pivot Charts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Slicers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Data Visualization Techniques </a:t>
            </a:r>
          </a:p>
        </p:txBody>
      </p:sp>
    </p:spTree>
    <p:extLst>
      <p:ext uri="{BB962C8B-B14F-4D97-AF65-F5344CB8AC3E}">
        <p14:creationId xmlns:p14="http://schemas.microsoft.com/office/powerpoint/2010/main" val="349695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B2CC2-8AB6-939F-6990-1A4DEB4645FC}"/>
              </a:ext>
            </a:extLst>
          </p:cNvPr>
          <p:cNvSpPr txBox="1"/>
          <p:nvPr/>
        </p:nvSpPr>
        <p:spPr>
          <a:xfrm>
            <a:off x="923925" y="1857375"/>
            <a:ext cx="108680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Superstore Sales Analysis Dashboard</a:t>
            </a:r>
            <a:r>
              <a:rPr lang="en-US" dirty="0"/>
              <a:t> provides an interactive overview of sales performance using Excel.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helps users to:</a:t>
            </a:r>
          </a:p>
          <a:p>
            <a:pPr algn="just"/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Monitor sales and profit.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Compare product categories.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Analyze customer segments.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Evaluate regional performance.</a:t>
            </a:r>
          </a:p>
          <a:p>
            <a:pPr algn="just"/>
            <a:r>
              <a:rPr lang="en-US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 Support data-driven business decisions.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21946-9F5A-DF7C-C866-3019AC6B79F4}"/>
              </a:ext>
            </a:extLst>
          </p:cNvPr>
          <p:cNvSpPr/>
          <p:nvPr/>
        </p:nvSpPr>
        <p:spPr>
          <a:xfrm>
            <a:off x="108065" y="58189"/>
            <a:ext cx="11978640" cy="8146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     CONCLUSION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9559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1670D80-D61C-294A-4D5A-4EAED773277C}"/>
              </a:ext>
            </a:extLst>
          </p:cNvPr>
          <p:cNvSpPr txBox="1">
            <a:spLocks/>
          </p:cNvSpPr>
          <p:nvPr/>
        </p:nvSpPr>
        <p:spPr>
          <a:xfrm>
            <a:off x="0" y="2019301"/>
            <a:ext cx="12192000" cy="177165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highlight>
                  <a:srgbClr val="008000"/>
                </a:highlight>
              </a:rPr>
              <a:t>THANK YOU</a:t>
            </a:r>
            <a:endParaRPr lang="en-IN" sz="4800" b="1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7212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599</Words>
  <Application>Microsoft Office PowerPoint</Application>
  <PresentationFormat>Widescreen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SUPERSTORE SALES ANALYSIS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 DASHBOARD</dc:title>
  <dc:creator>aiswarya 0p</dc:creator>
  <cp:lastModifiedBy>aiswarya 0p</cp:lastModifiedBy>
  <cp:revision>4</cp:revision>
  <dcterms:created xsi:type="dcterms:W3CDTF">2026-07-24T14:54:55Z</dcterms:created>
  <dcterms:modified xsi:type="dcterms:W3CDTF">2026-08-05T16:05:26Z</dcterms:modified>
</cp:coreProperties>
</file>